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8" r:id="rId3"/>
    <p:sldId id="262" r:id="rId4"/>
    <p:sldId id="273" r:id="rId5"/>
    <p:sldId id="257" r:id="rId6"/>
    <p:sldId id="272" r:id="rId7"/>
    <p:sldId id="271" r:id="rId8"/>
    <p:sldId id="274" r:id="rId9"/>
    <p:sldId id="265" r:id="rId10"/>
    <p:sldId id="263" r:id="rId11"/>
    <p:sldId id="260" r:id="rId12"/>
    <p:sldId id="261" r:id="rId13"/>
    <p:sldId id="264" r:id="rId14"/>
    <p:sldId id="275" r:id="rId15"/>
    <p:sldId id="268" r:id="rId16"/>
    <p:sldId id="276" r:id="rId17"/>
    <p:sldId id="277" r:id="rId18"/>
    <p:sldId id="280" r:id="rId19"/>
    <p:sldId id="269" r:id="rId20"/>
    <p:sldId id="281" r:id="rId21"/>
    <p:sldId id="266" r:id="rId22"/>
    <p:sldId id="279" r:id="rId23"/>
    <p:sldId id="26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1103"/>
    <a:srgbClr val="A6A6D8"/>
    <a:srgbClr val="8A8AC1"/>
    <a:srgbClr val="06B0F0"/>
    <a:srgbClr val="740D03"/>
    <a:srgbClr val="FFF4C6"/>
    <a:srgbClr val="FFE1A2"/>
    <a:srgbClr val="C71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637"/>
    <p:restoredTop sz="94654"/>
  </p:normalViewPr>
  <p:slideViewPr>
    <p:cSldViewPr snapToGrid="0">
      <p:cViewPr>
        <p:scale>
          <a:sx n="89" d="100"/>
          <a:sy n="89" d="100"/>
        </p:scale>
        <p:origin x="536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D876F-6847-946C-A1CD-2323F9CA12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3A4A31-8FAA-8DBC-BBA8-6D20407CE2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404B0-1E5E-04D9-3EFB-D533CBF62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BCA8-A605-6746-A8AD-2486C35A3317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30C51-BE88-9017-345B-0E12521BD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BB57E-9137-D717-F8A9-58ED5156E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5147-A9EB-4544-AEAB-4E2051D5C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31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41AED-AB5F-F01F-7086-1B657B005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86BA2-B775-4844-14C1-470FB3DDD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3BBCA-8C33-67D2-7DEF-85F1A5D8B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BCA8-A605-6746-A8AD-2486C35A3317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20DE1-31AD-2AE5-8F0E-345C58EC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2F15D-1552-355E-81E1-8B5751051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5147-A9EB-4544-AEAB-4E2051D5C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595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D0755-6C06-E388-23EA-6B861AA4C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A7458-7F2C-DD3C-4EBA-F374B5986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BF11F-A0CA-C417-F0C3-7EE282E15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BCA8-A605-6746-A8AD-2486C35A3317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2D55A-31F0-891F-9AB9-A828ADA3C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1B9AA-784A-E20F-71C5-FC7A684E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5147-A9EB-4544-AEAB-4E2051D5C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509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0333B-C5F5-6AB4-53F8-227C61870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0543A-BD9D-556E-D018-0920556E5B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E525A-9C7D-01E3-ACAE-A39786C8C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F19AD-BA34-3B17-5E9B-58E9D515E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BCA8-A605-6746-A8AD-2486C35A3317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90A64-68D3-9BF1-63AF-D9A1C17A2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D59A6D-0F36-48BE-235C-D5BAE95BB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5147-A9EB-4544-AEAB-4E2051D5C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881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299AA-5034-CDE9-C22E-7CD14BE1C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D412A2-DB72-B2AD-6CEF-02E40710A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FFDD19-978A-3D33-4EE7-1DD3AAEC84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B740C4-75CA-0D34-10AA-A0C204D54A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29CB52-7D86-08E8-EB40-1D55033175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D40A84-629F-0B33-09E4-B0B9D6EF5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BCA8-A605-6746-A8AD-2486C35A3317}" type="datetimeFigureOut">
              <a:rPr lang="en-US" smtClean="0"/>
              <a:t>7/24/26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25E80E-019D-27D1-7470-0357DE0C1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2585A9-90E7-4371-0251-830580629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5147-A9EB-4544-AEAB-4E2051D5C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826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97BD8-5FC1-27B4-E203-693B134DE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2F4CC7-B86C-0601-D29A-6D962F2EC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BCA8-A605-6746-A8AD-2486C35A3317}" type="datetimeFigureOut">
              <a:rPr lang="en-US" smtClean="0"/>
              <a:t>7/24/26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F106D4-BBFD-A282-302D-F61ABB70B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3DDA69-9435-9CFD-F0AE-40E669FA4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5147-A9EB-4544-AEAB-4E2051D5C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704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2210B0-0250-1EFB-7339-085138386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BCA8-A605-6746-A8AD-2486C35A3317}" type="datetimeFigureOut">
              <a:rPr lang="en-US" smtClean="0"/>
              <a:t>7/24/26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B4436D-90C4-1CFE-7E5E-8D5C5DBA2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2764B-FD3E-BFA0-2510-0DC1AD8BE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5147-A9EB-4544-AEAB-4E2051D5C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587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690C7-C88B-B722-F0B9-30E5D7C1B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C8021-045F-2C7B-A558-6FBE8D174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EE99BF-2B8D-3353-B9E9-A0531F29EA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BF9D1C-4847-CE1D-837A-AB4FEF7B2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BCA8-A605-6746-A8AD-2486C35A3317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12526-58BA-80E4-8A5E-9145B74C5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2F6D2-ECE7-28FD-0EB8-A967E8B06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5147-A9EB-4544-AEAB-4E2051D5C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245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DA187-FC28-A9E1-82D9-9DA711D9C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E55855-426D-FB78-C48C-CE9C970426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2E105B-C751-05F7-5C29-68C1565B42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49276-2516-7C84-9F25-2D9CFD26A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BCA8-A605-6746-A8AD-2486C35A3317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473E30-7274-62F6-57EC-68BD9CFF9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E380C1-3A55-E41C-CE4F-1D05B13F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5147-A9EB-4544-AEAB-4E2051D5C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306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A8141-71EF-9AEF-5BEA-43402ECB0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5424D1-FC85-85FE-FA08-49442156F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52490-8052-373D-DF6C-4189D8EDF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BCA8-A605-6746-A8AD-2486C35A3317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6C736-A4A0-73A2-429C-ACF364A84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E5894-146E-A10F-8132-4A9D8CAA4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5147-A9EB-4544-AEAB-4E2051D5C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52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FF4C6E-A628-F04E-C2B4-639CF28033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5F89CD-DF53-D574-ABB6-386854BD72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FD781-15DF-17A7-AA7D-0DFDB5F70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BCA8-A605-6746-A8AD-2486C35A3317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9BF1B-90A7-FFBB-93ED-A93FD1553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FEAFD-AC93-8027-DD93-1D13CC3C7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5147-A9EB-4544-AEAB-4E2051D5C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429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F0A24F-71AB-5388-5C34-9310B5D8D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5E4D3-D877-9E60-3522-35BBA16A6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6F32E-CA35-C250-F73F-CDFB760BB4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74BCA8-A605-6746-A8AD-2486C35A3317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66977-A307-0917-78F2-4E0A5443EB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5EEDC-34CC-D714-C9B2-1488837A8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A45147-A9EB-4544-AEAB-4E2051D5C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742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0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75BFB8-5A63-5DE0-98B6-C51BCE059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0F6A3F4-E94A-E06A-B36C-3C749E60F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54948">
            <a:off x="191560" y="379032"/>
            <a:ext cx="3384829" cy="14487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2DCE5A-861C-97FB-CE96-CEBBD3100945}"/>
              </a:ext>
            </a:extLst>
          </p:cNvPr>
          <p:cNvSpPr txBox="1"/>
          <p:nvPr/>
        </p:nvSpPr>
        <p:spPr>
          <a:xfrm>
            <a:off x="2402173" y="1850753"/>
            <a:ext cx="7387654" cy="1446550"/>
          </a:xfrm>
          <a:prstGeom prst="rect">
            <a:avLst/>
          </a:prstGeom>
          <a:noFill/>
          <a:ln w="25400">
            <a:solidFill>
              <a:srgbClr val="B31103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dirty="0">
                <a:solidFill>
                  <a:prstClr val="black"/>
                </a:solidFill>
                <a:latin typeface="Aptos Display" panose="02110004020202020204"/>
              </a:rPr>
              <a:t>First Results: Field-Correcting Coils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2F9466-AE1A-9601-31B4-EE126949DEB6}"/>
              </a:ext>
            </a:extLst>
          </p:cNvPr>
          <p:cNvSpPr txBox="1"/>
          <p:nvPr/>
        </p:nvSpPr>
        <p:spPr>
          <a:xfrm>
            <a:off x="3266860" y="3961776"/>
            <a:ext cx="56582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Presented by: Jonah Seguine</a:t>
            </a:r>
          </a:p>
          <a:p>
            <a:pPr algn="ctr"/>
            <a:r>
              <a:rPr lang="en-US" dirty="0"/>
              <a:t>Dr. Chris Crawford, Dr. Ryan MacLellan, and Mubi Khan </a:t>
            </a:r>
          </a:p>
        </p:txBody>
      </p:sp>
    </p:spTree>
    <p:extLst>
      <p:ext uri="{BB962C8B-B14F-4D97-AF65-F5344CB8AC3E}">
        <p14:creationId xmlns:p14="http://schemas.microsoft.com/office/powerpoint/2010/main" val="3730693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4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D4F5CD-D344-1861-A3DE-0CC8515E0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8637BB2-D84C-370C-8106-730D38288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54948">
            <a:off x="135409" y="270663"/>
            <a:ext cx="1628996" cy="69721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B7E7B69-8415-0F22-A564-7A47A9B5C6F6}"/>
              </a:ext>
            </a:extLst>
          </p:cNvPr>
          <p:cNvCxnSpPr>
            <a:cxnSpLocks/>
          </p:cNvCxnSpPr>
          <p:nvPr/>
        </p:nvCxnSpPr>
        <p:spPr>
          <a:xfrm>
            <a:off x="-225381" y="1236373"/>
            <a:ext cx="12642761" cy="0"/>
          </a:xfrm>
          <a:prstGeom prst="line">
            <a:avLst/>
          </a:prstGeom>
          <a:ln>
            <a:solidFill>
              <a:srgbClr val="B311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9E1297B-0071-1148-8032-68F2232CD28C}"/>
              </a:ext>
            </a:extLst>
          </p:cNvPr>
          <p:cNvSpPr txBox="1"/>
          <p:nvPr/>
        </p:nvSpPr>
        <p:spPr>
          <a:xfrm>
            <a:off x="2625775" y="296102"/>
            <a:ext cx="6940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Aptos Display" panose="02110004020202020204"/>
              </a:rPr>
              <a:t>High-Level Overview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8A3B2A6-0DA5-9416-FD83-4743350F36F0}"/>
                  </a:ext>
                </a:extLst>
              </p:cNvPr>
              <p:cNvSpPr txBox="1"/>
              <p:nvPr/>
            </p:nvSpPr>
            <p:spPr>
              <a:xfrm>
                <a:off x="340630" y="1710433"/>
                <a:ext cx="5006715" cy="3524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The Project 8 Collaboration seeks to measure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𝜈</m:t>
                        </m:r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, the mass of the electron neutrino through tritium (</a:t>
                </a:r>
                <a:r>
                  <a:rPr lang="en-US" sz="2400" baseline="30000" dirty="0">
                    <a:solidFill>
                      <a:prstClr val="black"/>
                    </a:solidFill>
                  </a:rPr>
                  <a:t>3</a:t>
                </a:r>
                <a:r>
                  <a:rPr lang="en-US" sz="2400" dirty="0">
                    <a:solidFill>
                      <a:prstClr val="black"/>
                    </a:solidFill>
                  </a:rPr>
                  <a:t>H) </a:t>
                </a:r>
                <a:r>
                  <a:rPr lang="el-GR" sz="2400" dirty="0">
                    <a:solidFill>
                      <a:prstClr val="black"/>
                    </a:solidFill>
                  </a:rPr>
                  <a:t>β</a:t>
                </a:r>
                <a:r>
                  <a:rPr lang="en-US" sz="2400" dirty="0">
                    <a:solidFill>
                      <a:prstClr val="black"/>
                    </a:solidFill>
                  </a:rPr>
                  <a:t>-decay. 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8A3B2A6-0DA5-9416-FD83-4743350F3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630" y="1710433"/>
                <a:ext cx="5006715" cy="3524876"/>
              </a:xfrm>
              <a:prstGeom prst="rect">
                <a:avLst/>
              </a:prstGeom>
              <a:blipFill>
                <a:blip r:embed="rId3"/>
                <a:stretch>
                  <a:fillRect l="-1772" t="-1434" r="-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E7C46C0-5E44-85DC-2DFD-FBEE200C6588}"/>
              </a:ext>
            </a:extLst>
          </p:cNvPr>
          <p:cNvCxnSpPr>
            <a:cxnSpLocks/>
          </p:cNvCxnSpPr>
          <p:nvPr/>
        </p:nvCxnSpPr>
        <p:spPr>
          <a:xfrm>
            <a:off x="960845" y="4647481"/>
            <a:ext cx="12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F432CA8-C10F-190E-2027-A7694511335B}"/>
              </a:ext>
            </a:extLst>
          </p:cNvPr>
          <p:cNvCxnSpPr>
            <a:cxnSpLocks/>
            <a:stCxn id="16" idx="6"/>
          </p:cNvCxnSpPr>
          <p:nvPr/>
        </p:nvCxnSpPr>
        <p:spPr>
          <a:xfrm flipV="1">
            <a:off x="2496566" y="4647480"/>
            <a:ext cx="216661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E31A5F2C-2EF1-E0F8-38B7-BC673F98822E}"/>
              </a:ext>
            </a:extLst>
          </p:cNvPr>
          <p:cNvSpPr>
            <a:spLocks noChangeAspect="1"/>
          </p:cNvSpPr>
          <p:nvPr/>
        </p:nvSpPr>
        <p:spPr>
          <a:xfrm>
            <a:off x="2310785" y="4554590"/>
            <a:ext cx="185781" cy="185781"/>
          </a:xfrm>
          <a:prstGeom prst="ellipse">
            <a:avLst/>
          </a:prstGeom>
          <a:solidFill>
            <a:schemeClr val="dk1">
              <a:alpha val="58826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3C4B3EF7-C8E9-88E5-2732-2404FBAC1DE5}"/>
              </a:ext>
            </a:extLst>
          </p:cNvPr>
          <p:cNvSpPr/>
          <p:nvPr/>
        </p:nvSpPr>
        <p:spPr>
          <a:xfrm>
            <a:off x="2494860" y="4749985"/>
            <a:ext cx="551997" cy="518885"/>
          </a:xfrm>
          <a:custGeom>
            <a:avLst/>
            <a:gdLst>
              <a:gd name="csX0" fmla="*/ 0 w 551997"/>
              <a:gd name="csY0" fmla="*/ 29028 h 518885"/>
              <a:gd name="csX1" fmla="*/ 212271 w 551997"/>
              <a:gd name="csY1" fmla="*/ 12699 h 518885"/>
              <a:gd name="csX2" fmla="*/ 16328 w 551997"/>
              <a:gd name="csY2" fmla="*/ 192314 h 518885"/>
              <a:gd name="csX3" fmla="*/ 293914 w 551997"/>
              <a:gd name="csY3" fmla="*/ 143328 h 518885"/>
              <a:gd name="csX4" fmla="*/ 146957 w 551997"/>
              <a:gd name="csY4" fmla="*/ 322942 h 518885"/>
              <a:gd name="csX5" fmla="*/ 408214 w 551997"/>
              <a:gd name="csY5" fmla="*/ 257628 h 518885"/>
              <a:gd name="csX6" fmla="*/ 244928 w 551997"/>
              <a:gd name="csY6" fmla="*/ 469899 h 518885"/>
              <a:gd name="csX7" fmla="*/ 538843 w 551997"/>
              <a:gd name="csY7" fmla="*/ 404585 h 518885"/>
              <a:gd name="csX8" fmla="*/ 473528 w 551997"/>
              <a:gd name="csY8" fmla="*/ 518885 h 518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51997" h="518885">
                <a:moveTo>
                  <a:pt x="0" y="29028"/>
                </a:moveTo>
                <a:cubicBezTo>
                  <a:pt x="104775" y="7256"/>
                  <a:pt x="209550" y="-14515"/>
                  <a:pt x="212271" y="12699"/>
                </a:cubicBezTo>
                <a:cubicBezTo>
                  <a:pt x="214992" y="39913"/>
                  <a:pt x="2721" y="170543"/>
                  <a:pt x="16328" y="192314"/>
                </a:cubicBezTo>
                <a:cubicBezTo>
                  <a:pt x="29935" y="214085"/>
                  <a:pt x="272143" y="121557"/>
                  <a:pt x="293914" y="143328"/>
                </a:cubicBezTo>
                <a:cubicBezTo>
                  <a:pt x="315685" y="165099"/>
                  <a:pt x="127907" y="303892"/>
                  <a:pt x="146957" y="322942"/>
                </a:cubicBezTo>
                <a:cubicBezTo>
                  <a:pt x="166007" y="341992"/>
                  <a:pt x="391886" y="233135"/>
                  <a:pt x="408214" y="257628"/>
                </a:cubicBezTo>
                <a:cubicBezTo>
                  <a:pt x="424542" y="282121"/>
                  <a:pt x="223157" y="445406"/>
                  <a:pt x="244928" y="469899"/>
                </a:cubicBezTo>
                <a:cubicBezTo>
                  <a:pt x="266699" y="494392"/>
                  <a:pt x="500743" y="396421"/>
                  <a:pt x="538843" y="404585"/>
                </a:cubicBezTo>
                <a:cubicBezTo>
                  <a:pt x="576943" y="412749"/>
                  <a:pt x="525235" y="465817"/>
                  <a:pt x="473528" y="51888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A02BB82-00A6-6887-5D9B-60442FF79889}"/>
              </a:ext>
            </a:extLst>
          </p:cNvPr>
          <p:cNvSpPr>
            <a:spLocks noChangeAspect="1"/>
          </p:cNvSpPr>
          <p:nvPr/>
        </p:nvSpPr>
        <p:spPr>
          <a:xfrm>
            <a:off x="2956857" y="5291921"/>
            <a:ext cx="180000" cy="180000"/>
          </a:xfrm>
          <a:prstGeom prst="ellipse">
            <a:avLst/>
          </a:prstGeom>
          <a:solidFill>
            <a:schemeClr val="dk1">
              <a:alpha val="58826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452C526-9AEA-6A70-64D3-D607E43AA4AA}"/>
              </a:ext>
            </a:extLst>
          </p:cNvPr>
          <p:cNvCxnSpPr/>
          <p:nvPr/>
        </p:nvCxnSpPr>
        <p:spPr>
          <a:xfrm flipV="1">
            <a:off x="3136857" y="5268870"/>
            <a:ext cx="1526326" cy="1130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B40BD62-C259-4FBD-F254-9ABD35893E94}"/>
              </a:ext>
            </a:extLst>
          </p:cNvPr>
          <p:cNvCxnSpPr>
            <a:cxnSpLocks/>
            <a:stCxn id="19" idx="5"/>
          </p:cNvCxnSpPr>
          <p:nvPr/>
        </p:nvCxnSpPr>
        <p:spPr>
          <a:xfrm>
            <a:off x="3110497" y="5445561"/>
            <a:ext cx="1552686" cy="5285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34EE549-B5BB-03AA-BF78-F4786ECDEA48}"/>
              </a:ext>
            </a:extLst>
          </p:cNvPr>
          <p:cNvSpPr txBox="1"/>
          <p:nvPr/>
        </p:nvSpPr>
        <p:spPr>
          <a:xfrm>
            <a:off x="708296" y="4462814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36CB88-A45A-44D1-78A3-7E0ADD2E09A6}"/>
              </a:ext>
            </a:extLst>
          </p:cNvPr>
          <p:cNvSpPr txBox="1"/>
          <p:nvPr/>
        </p:nvSpPr>
        <p:spPr>
          <a:xfrm>
            <a:off x="4689305" y="4462814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A3D604-DE9A-DB6A-988C-1E5B0EFA38DA}"/>
              </a:ext>
            </a:extLst>
          </p:cNvPr>
          <p:cNvSpPr txBox="1"/>
          <p:nvPr/>
        </p:nvSpPr>
        <p:spPr>
          <a:xfrm>
            <a:off x="4653432" y="5062182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</a:t>
            </a:r>
            <a:r>
              <a:rPr lang="en-US" b="1" baseline="30000" dirty="0"/>
              <a:t>-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33A6DB5-B3E6-074D-85E4-B4C1A24D8718}"/>
                  </a:ext>
                </a:extLst>
              </p:cNvPr>
              <p:cNvSpPr txBox="1"/>
              <p:nvPr/>
            </p:nvSpPr>
            <p:spPr>
              <a:xfrm>
                <a:off x="4584259" y="5758377"/>
                <a:ext cx="465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𝝂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sub>
                          </m:sSub>
                        </m:e>
                      </m:ba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33A6DB5-B3E6-074D-85E4-B4C1A24D8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4259" y="5758377"/>
                <a:ext cx="46512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104202C4-5670-AB3A-329E-90AF4007526F}"/>
              </a:ext>
            </a:extLst>
          </p:cNvPr>
          <p:cNvSpPr txBox="1"/>
          <p:nvPr/>
        </p:nvSpPr>
        <p:spPr>
          <a:xfrm>
            <a:off x="2268250" y="4922771"/>
            <a:ext cx="446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</a:t>
            </a:r>
            <a:r>
              <a:rPr lang="en-US" b="1" baseline="30000" dirty="0"/>
              <a:t>-</a:t>
            </a:r>
            <a:endParaRPr lang="en-US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DC5EB0-846A-DECF-14F2-781361563E2D}"/>
              </a:ext>
            </a:extLst>
          </p:cNvPr>
          <p:cNvSpPr txBox="1"/>
          <p:nvPr/>
        </p:nvSpPr>
        <p:spPr>
          <a:xfrm>
            <a:off x="359764" y="3807049"/>
            <a:ext cx="4866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1: The decay channel resulting in a neutrino</a:t>
            </a:r>
          </a:p>
        </p:txBody>
      </p:sp>
      <p:pic>
        <p:nvPicPr>
          <p:cNvPr id="35" name="Picture 34" descr="Standard Model - Wikipedia">
            <a:extLst>
              <a:ext uri="{FF2B5EF4-FFF2-40B4-BE49-F238E27FC236}">
                <a16:creationId xmlns:a16="http://schemas.microsoft.com/office/drawing/2014/main" id="{484560A5-399F-662D-188F-149467934C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9551" y="1497643"/>
            <a:ext cx="4953910" cy="4737176"/>
          </a:xfrm>
          <a:prstGeom prst="rect">
            <a:avLst/>
          </a:prstGeom>
        </p:spPr>
      </p:pic>
      <p:sp>
        <p:nvSpPr>
          <p:cNvPr id="36" name="Right Arrow 35">
            <a:extLst>
              <a:ext uri="{FF2B5EF4-FFF2-40B4-BE49-F238E27FC236}">
                <a16:creationId xmlns:a16="http://schemas.microsoft.com/office/drawing/2014/main" id="{4C4D7AAA-48FC-3DB4-9FA0-A98E3328F9E4}"/>
              </a:ext>
            </a:extLst>
          </p:cNvPr>
          <p:cNvSpPr/>
          <p:nvPr/>
        </p:nvSpPr>
        <p:spPr>
          <a:xfrm rot="19304823">
            <a:off x="6255717" y="6189868"/>
            <a:ext cx="800100" cy="266831"/>
          </a:xfrm>
          <a:prstGeom prst="rightArrow">
            <a:avLst/>
          </a:prstGeom>
          <a:solidFill>
            <a:srgbClr val="740D0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98953E-DC69-861C-F53A-97E3545D4696}"/>
              </a:ext>
            </a:extLst>
          </p:cNvPr>
          <p:cNvSpPr txBox="1"/>
          <p:nvPr/>
        </p:nvSpPr>
        <p:spPr>
          <a:xfrm>
            <a:off x="11020711" y="5709815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[1]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EDD47A-717D-287D-E149-35635BD30FC3}"/>
              </a:ext>
            </a:extLst>
          </p:cNvPr>
          <p:cNvSpPr txBox="1"/>
          <p:nvPr/>
        </p:nvSpPr>
        <p:spPr>
          <a:xfrm>
            <a:off x="6655767" y="6306406"/>
            <a:ext cx="5182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2: Table of elementary particles and properties</a:t>
            </a:r>
          </a:p>
        </p:txBody>
      </p:sp>
    </p:spTree>
    <p:extLst>
      <p:ext uri="{BB962C8B-B14F-4D97-AF65-F5344CB8AC3E}">
        <p14:creationId xmlns:p14="http://schemas.microsoft.com/office/powerpoint/2010/main" val="3665472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4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A3E9D4-AAB7-0C80-DEB9-248D5A63B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CE87E27-D851-6D71-DDBD-73209F380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54948">
            <a:off x="135409" y="270663"/>
            <a:ext cx="1628996" cy="69721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6748BBC-E2A0-1D2D-ACDC-33C64ECF6252}"/>
              </a:ext>
            </a:extLst>
          </p:cNvPr>
          <p:cNvCxnSpPr>
            <a:cxnSpLocks/>
          </p:cNvCxnSpPr>
          <p:nvPr/>
        </p:nvCxnSpPr>
        <p:spPr>
          <a:xfrm>
            <a:off x="-225381" y="1236373"/>
            <a:ext cx="12642761" cy="0"/>
          </a:xfrm>
          <a:prstGeom prst="line">
            <a:avLst/>
          </a:prstGeom>
          <a:ln>
            <a:solidFill>
              <a:srgbClr val="B311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5EE94D5-66B0-A92D-6091-63B8D359539F}"/>
              </a:ext>
            </a:extLst>
          </p:cNvPr>
          <p:cNvSpPr txBox="1"/>
          <p:nvPr/>
        </p:nvSpPr>
        <p:spPr>
          <a:xfrm>
            <a:off x="2625775" y="296102"/>
            <a:ext cx="6940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Aptos Display" panose="02110004020202020204"/>
              </a:rPr>
              <a:t>High-Level Overview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689B99-91C4-150A-A9D7-7CFECC3FA2A8}"/>
                  </a:ext>
                </a:extLst>
              </p:cNvPr>
              <p:cNvSpPr txBox="1"/>
              <p:nvPr/>
            </p:nvSpPr>
            <p:spPr>
              <a:xfrm>
                <a:off x="340630" y="1710433"/>
                <a:ext cx="5006715" cy="3524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The Project 8 Collaboration seeks to measure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𝜈</m:t>
                        </m:r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, the mass of the electron neutrino through tritium (</a:t>
                </a:r>
                <a:r>
                  <a:rPr lang="en-US" sz="2400" baseline="30000" dirty="0">
                    <a:solidFill>
                      <a:prstClr val="black"/>
                    </a:solidFill>
                  </a:rPr>
                  <a:t>3</a:t>
                </a:r>
                <a:r>
                  <a:rPr lang="en-US" sz="2400" dirty="0">
                    <a:solidFill>
                      <a:prstClr val="black"/>
                    </a:solidFill>
                  </a:rPr>
                  <a:t>H) </a:t>
                </a:r>
                <a:r>
                  <a:rPr lang="el-GR" sz="2400" dirty="0">
                    <a:solidFill>
                      <a:prstClr val="black"/>
                    </a:solidFill>
                  </a:rPr>
                  <a:t>β</a:t>
                </a:r>
                <a:r>
                  <a:rPr lang="en-US" sz="2400" dirty="0">
                    <a:solidFill>
                      <a:prstClr val="black"/>
                    </a:solidFill>
                  </a:rPr>
                  <a:t>-decay. 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689B99-91C4-150A-A9D7-7CFECC3FA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630" y="1710433"/>
                <a:ext cx="5006715" cy="3524876"/>
              </a:xfrm>
              <a:prstGeom prst="rect">
                <a:avLst/>
              </a:prstGeom>
              <a:blipFill>
                <a:blip r:embed="rId3"/>
                <a:stretch>
                  <a:fillRect l="-1772" t="-1434" r="-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84CAB90-A934-FB64-6A3E-EE4D37198230}"/>
              </a:ext>
            </a:extLst>
          </p:cNvPr>
          <p:cNvCxnSpPr>
            <a:cxnSpLocks/>
          </p:cNvCxnSpPr>
          <p:nvPr/>
        </p:nvCxnSpPr>
        <p:spPr>
          <a:xfrm>
            <a:off x="960845" y="4647481"/>
            <a:ext cx="12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2B84F7D-4258-F377-7AC0-96FECD41ED8A}"/>
              </a:ext>
            </a:extLst>
          </p:cNvPr>
          <p:cNvCxnSpPr>
            <a:cxnSpLocks/>
            <a:stCxn id="16" idx="6"/>
          </p:cNvCxnSpPr>
          <p:nvPr/>
        </p:nvCxnSpPr>
        <p:spPr>
          <a:xfrm flipV="1">
            <a:off x="2496566" y="4647480"/>
            <a:ext cx="216661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127A4F89-F633-B84B-66BB-6B0A116FD08F}"/>
              </a:ext>
            </a:extLst>
          </p:cNvPr>
          <p:cNvSpPr>
            <a:spLocks noChangeAspect="1"/>
          </p:cNvSpPr>
          <p:nvPr/>
        </p:nvSpPr>
        <p:spPr>
          <a:xfrm>
            <a:off x="2310785" y="4554590"/>
            <a:ext cx="185781" cy="185781"/>
          </a:xfrm>
          <a:prstGeom prst="ellipse">
            <a:avLst/>
          </a:prstGeom>
          <a:solidFill>
            <a:schemeClr val="dk1">
              <a:alpha val="58826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E399E5C1-29A4-F950-87C7-9B2CCE686B64}"/>
              </a:ext>
            </a:extLst>
          </p:cNvPr>
          <p:cNvSpPr/>
          <p:nvPr/>
        </p:nvSpPr>
        <p:spPr>
          <a:xfrm>
            <a:off x="2494860" y="4749985"/>
            <a:ext cx="551997" cy="518885"/>
          </a:xfrm>
          <a:custGeom>
            <a:avLst/>
            <a:gdLst>
              <a:gd name="csX0" fmla="*/ 0 w 551997"/>
              <a:gd name="csY0" fmla="*/ 29028 h 518885"/>
              <a:gd name="csX1" fmla="*/ 212271 w 551997"/>
              <a:gd name="csY1" fmla="*/ 12699 h 518885"/>
              <a:gd name="csX2" fmla="*/ 16328 w 551997"/>
              <a:gd name="csY2" fmla="*/ 192314 h 518885"/>
              <a:gd name="csX3" fmla="*/ 293914 w 551997"/>
              <a:gd name="csY3" fmla="*/ 143328 h 518885"/>
              <a:gd name="csX4" fmla="*/ 146957 w 551997"/>
              <a:gd name="csY4" fmla="*/ 322942 h 518885"/>
              <a:gd name="csX5" fmla="*/ 408214 w 551997"/>
              <a:gd name="csY5" fmla="*/ 257628 h 518885"/>
              <a:gd name="csX6" fmla="*/ 244928 w 551997"/>
              <a:gd name="csY6" fmla="*/ 469899 h 518885"/>
              <a:gd name="csX7" fmla="*/ 538843 w 551997"/>
              <a:gd name="csY7" fmla="*/ 404585 h 518885"/>
              <a:gd name="csX8" fmla="*/ 473528 w 551997"/>
              <a:gd name="csY8" fmla="*/ 518885 h 518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51997" h="518885">
                <a:moveTo>
                  <a:pt x="0" y="29028"/>
                </a:moveTo>
                <a:cubicBezTo>
                  <a:pt x="104775" y="7256"/>
                  <a:pt x="209550" y="-14515"/>
                  <a:pt x="212271" y="12699"/>
                </a:cubicBezTo>
                <a:cubicBezTo>
                  <a:pt x="214992" y="39913"/>
                  <a:pt x="2721" y="170543"/>
                  <a:pt x="16328" y="192314"/>
                </a:cubicBezTo>
                <a:cubicBezTo>
                  <a:pt x="29935" y="214085"/>
                  <a:pt x="272143" y="121557"/>
                  <a:pt x="293914" y="143328"/>
                </a:cubicBezTo>
                <a:cubicBezTo>
                  <a:pt x="315685" y="165099"/>
                  <a:pt x="127907" y="303892"/>
                  <a:pt x="146957" y="322942"/>
                </a:cubicBezTo>
                <a:cubicBezTo>
                  <a:pt x="166007" y="341992"/>
                  <a:pt x="391886" y="233135"/>
                  <a:pt x="408214" y="257628"/>
                </a:cubicBezTo>
                <a:cubicBezTo>
                  <a:pt x="424542" y="282121"/>
                  <a:pt x="223157" y="445406"/>
                  <a:pt x="244928" y="469899"/>
                </a:cubicBezTo>
                <a:cubicBezTo>
                  <a:pt x="266699" y="494392"/>
                  <a:pt x="500743" y="396421"/>
                  <a:pt x="538843" y="404585"/>
                </a:cubicBezTo>
                <a:cubicBezTo>
                  <a:pt x="576943" y="412749"/>
                  <a:pt x="525235" y="465817"/>
                  <a:pt x="473528" y="51888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CD48F07-E975-AD92-4779-64254577B3B0}"/>
              </a:ext>
            </a:extLst>
          </p:cNvPr>
          <p:cNvSpPr>
            <a:spLocks noChangeAspect="1"/>
          </p:cNvSpPr>
          <p:nvPr/>
        </p:nvSpPr>
        <p:spPr>
          <a:xfrm>
            <a:off x="2956857" y="5291921"/>
            <a:ext cx="180000" cy="180000"/>
          </a:xfrm>
          <a:prstGeom prst="ellipse">
            <a:avLst/>
          </a:prstGeom>
          <a:solidFill>
            <a:schemeClr val="dk1">
              <a:alpha val="58826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4764AEA-0214-2170-0D26-2A59D119AFA4}"/>
              </a:ext>
            </a:extLst>
          </p:cNvPr>
          <p:cNvCxnSpPr/>
          <p:nvPr/>
        </p:nvCxnSpPr>
        <p:spPr>
          <a:xfrm flipV="1">
            <a:off x="3136857" y="5268870"/>
            <a:ext cx="1526326" cy="1130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EB46125-2CB4-B209-B3DD-8221A2EE7144}"/>
              </a:ext>
            </a:extLst>
          </p:cNvPr>
          <p:cNvCxnSpPr>
            <a:cxnSpLocks/>
            <a:stCxn id="19" idx="5"/>
          </p:cNvCxnSpPr>
          <p:nvPr/>
        </p:nvCxnSpPr>
        <p:spPr>
          <a:xfrm>
            <a:off x="3110497" y="5445561"/>
            <a:ext cx="1552686" cy="5285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E073320-46D8-4207-179F-5C04405F5F05}"/>
              </a:ext>
            </a:extLst>
          </p:cNvPr>
          <p:cNvSpPr txBox="1"/>
          <p:nvPr/>
        </p:nvSpPr>
        <p:spPr>
          <a:xfrm>
            <a:off x="708296" y="4462814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6DF734-D570-7EB2-A53F-80C1A1A070B6}"/>
              </a:ext>
            </a:extLst>
          </p:cNvPr>
          <p:cNvSpPr txBox="1"/>
          <p:nvPr/>
        </p:nvSpPr>
        <p:spPr>
          <a:xfrm>
            <a:off x="4689305" y="4462814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2691F4-26AE-0791-1355-B697E6257EB8}"/>
              </a:ext>
            </a:extLst>
          </p:cNvPr>
          <p:cNvSpPr txBox="1"/>
          <p:nvPr/>
        </p:nvSpPr>
        <p:spPr>
          <a:xfrm>
            <a:off x="4653432" y="5062182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</a:t>
            </a:r>
            <a:r>
              <a:rPr lang="en-US" b="1" baseline="30000" dirty="0"/>
              <a:t>-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8ACF7A9-B750-2BD5-7257-A16CB4D63B30}"/>
                  </a:ext>
                </a:extLst>
              </p:cNvPr>
              <p:cNvSpPr txBox="1"/>
              <p:nvPr/>
            </p:nvSpPr>
            <p:spPr>
              <a:xfrm>
                <a:off x="4584259" y="5758377"/>
                <a:ext cx="465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𝝂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sub>
                          </m:sSub>
                        </m:e>
                      </m:ba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8ACF7A9-B750-2BD5-7257-A16CB4D63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4259" y="5758377"/>
                <a:ext cx="46512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341AF574-595C-C90F-7E57-44E18CBD8B6B}"/>
              </a:ext>
            </a:extLst>
          </p:cNvPr>
          <p:cNvSpPr txBox="1"/>
          <p:nvPr/>
        </p:nvSpPr>
        <p:spPr>
          <a:xfrm>
            <a:off x="2268250" y="4922771"/>
            <a:ext cx="446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</a:t>
            </a:r>
            <a:r>
              <a:rPr lang="en-US" b="1" baseline="30000" dirty="0"/>
              <a:t>-</a:t>
            </a:r>
            <a:endParaRPr lang="en-US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39D2F4-4AC3-95CC-923F-EC2807FE64D5}"/>
              </a:ext>
            </a:extLst>
          </p:cNvPr>
          <p:cNvSpPr txBox="1"/>
          <p:nvPr/>
        </p:nvSpPr>
        <p:spPr>
          <a:xfrm>
            <a:off x="359764" y="3807049"/>
            <a:ext cx="4866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1: The decay channel resulting in a neutrino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C0CA16F-9C71-38C7-44A5-4C866786DAE4}"/>
              </a:ext>
            </a:extLst>
          </p:cNvPr>
          <p:cNvSpPr txBox="1"/>
          <p:nvPr/>
        </p:nvSpPr>
        <p:spPr>
          <a:xfrm>
            <a:off x="6153495" y="1637225"/>
            <a:ext cx="500671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By measuring the spectrum of output electron energies, we can solve for the mass of the neutrino.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We measure electron energies by their frequencies along uniform B-field lines.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2403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4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E99026-C471-E125-3C1F-93E957A74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EEF514-E7C0-D23B-9DD2-8D830FA44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54948">
            <a:off x="191560" y="379032"/>
            <a:ext cx="3384829" cy="14487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B2C65A-931D-E887-1AE8-853BBEE7E1AC}"/>
              </a:ext>
            </a:extLst>
          </p:cNvPr>
          <p:cNvSpPr txBox="1"/>
          <p:nvPr/>
        </p:nvSpPr>
        <p:spPr>
          <a:xfrm>
            <a:off x="3493712" y="2526614"/>
            <a:ext cx="5204575" cy="769441"/>
          </a:xfrm>
          <a:prstGeom prst="rect">
            <a:avLst/>
          </a:prstGeom>
          <a:noFill/>
          <a:ln w="25400">
            <a:solidFill>
              <a:srgbClr val="B31103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dirty="0">
                <a:solidFill>
                  <a:prstClr val="black"/>
                </a:solidFill>
                <a:latin typeface="Aptos Display" panose="02110004020202020204"/>
              </a:rPr>
              <a:t>Baseline Coils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049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8E7880A-06FB-66FE-E3CF-A1133D483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54948">
            <a:off x="135409" y="270663"/>
            <a:ext cx="1628996" cy="69721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1621082-FE95-ADC9-30D9-EDD71E7FE0C5}"/>
              </a:ext>
            </a:extLst>
          </p:cNvPr>
          <p:cNvCxnSpPr>
            <a:cxnSpLocks/>
          </p:cNvCxnSpPr>
          <p:nvPr/>
        </p:nvCxnSpPr>
        <p:spPr>
          <a:xfrm>
            <a:off x="-225381" y="1236373"/>
            <a:ext cx="12642761" cy="0"/>
          </a:xfrm>
          <a:prstGeom prst="line">
            <a:avLst/>
          </a:prstGeom>
          <a:ln>
            <a:solidFill>
              <a:srgbClr val="B311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C591B89-B29F-3649-65AD-94DD4B8C56D1}"/>
              </a:ext>
            </a:extLst>
          </p:cNvPr>
          <p:cNvSpPr txBox="1"/>
          <p:nvPr/>
        </p:nvSpPr>
        <p:spPr>
          <a:xfrm>
            <a:off x="2625775" y="296102"/>
            <a:ext cx="6940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Baseline Coils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0D4220D-B404-EF73-E4C1-C8FC9F5A178A}"/>
                  </a:ext>
                </a:extLst>
              </p:cNvPr>
              <p:cNvSpPr txBox="1"/>
              <p:nvPr/>
            </p:nvSpPr>
            <p:spPr>
              <a:xfrm>
                <a:off x="3695061" y="1365517"/>
                <a:ext cx="5186597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Internal Field Requirements:</a:t>
                </a:r>
              </a:p>
              <a:p>
                <a:endParaRPr lang="en-US" sz="24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20 </a:t>
                </a:r>
                <a:r>
                  <a:rPr lang="en-US" sz="2400" dirty="0" err="1"/>
                  <a:t>mT</a:t>
                </a:r>
                <a:r>
                  <a:rPr lang="en-US" sz="2400" dirty="0"/>
                  <a:t> along the cylinder’s axis (+z)</a:t>
                </a:r>
              </a:p>
              <a:p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Variation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−7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 sz="2400" dirty="0"/>
                  <a:t>along axis</a:t>
                </a:r>
              </a:p>
              <a:p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Variation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r>
                  <a:rPr lang="en-US" sz="2400" dirty="0"/>
                  <a:t> elsewhere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0D4220D-B404-EF73-E4C1-C8FC9F5A1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061" y="1365517"/>
                <a:ext cx="5186597" cy="3785652"/>
              </a:xfrm>
              <a:prstGeom prst="rect">
                <a:avLst/>
              </a:prstGeom>
              <a:blipFill>
                <a:blip r:embed="rId3"/>
                <a:stretch>
                  <a:fillRect l="-1707" t="-13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8F0EF28-893F-3AAA-186C-16BADC3F6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621" y="5066804"/>
            <a:ext cx="10460757" cy="1335027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7522C774-A760-8E1B-4E43-E1B577276C08}"/>
              </a:ext>
            </a:extLst>
          </p:cNvPr>
          <p:cNvGrpSpPr/>
          <p:nvPr/>
        </p:nvGrpSpPr>
        <p:grpSpPr>
          <a:xfrm>
            <a:off x="2177144" y="4697029"/>
            <a:ext cx="7837712" cy="476593"/>
            <a:chOff x="2049863" y="3077308"/>
            <a:chExt cx="1939332" cy="703384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1148C52-D2EC-0736-04DA-3D925E653C62}"/>
                </a:ext>
              </a:extLst>
            </p:cNvPr>
            <p:cNvCxnSpPr/>
            <p:nvPr/>
          </p:nvCxnSpPr>
          <p:spPr>
            <a:xfrm>
              <a:off x="2049863" y="3077308"/>
              <a:ext cx="0" cy="7033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D46488F-A8B2-4619-3E36-D001DC957E6A}"/>
                </a:ext>
              </a:extLst>
            </p:cNvPr>
            <p:cNvCxnSpPr/>
            <p:nvPr/>
          </p:nvCxnSpPr>
          <p:spPr>
            <a:xfrm>
              <a:off x="3989195" y="3077308"/>
              <a:ext cx="0" cy="7033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CFED9B-7CCA-E85C-1769-D9BEBE1657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49863" y="3219719"/>
              <a:ext cx="1939332" cy="0"/>
            </a:xfrm>
            <a:prstGeom prst="line">
              <a:avLst/>
            </a:prstGeom>
            <a:ln w="1905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38401F8-F6FC-E01F-4198-67B52155515D}"/>
              </a:ext>
            </a:extLst>
          </p:cNvPr>
          <p:cNvSpPr txBox="1"/>
          <p:nvPr/>
        </p:nvSpPr>
        <p:spPr>
          <a:xfrm>
            <a:off x="5857600" y="4788084"/>
            <a:ext cx="384721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7.6</a:t>
            </a:r>
            <a:r>
              <a:rPr lang="en-US" sz="1200" dirty="0">
                <a:effectLst/>
                <a:latin typeface="Helvetica" pitchFamily="2" charset="0"/>
              </a:rPr>
              <a:t> 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8DAC70-BB1A-EC64-E937-5202C9E0B879}"/>
              </a:ext>
            </a:extLst>
          </p:cNvPr>
          <p:cNvSpPr txBox="1"/>
          <p:nvPr/>
        </p:nvSpPr>
        <p:spPr>
          <a:xfrm>
            <a:off x="196943" y="5536946"/>
            <a:ext cx="42960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+x/y</a:t>
            </a:r>
            <a:endParaRPr lang="en-US" dirty="0">
              <a:effectLst/>
              <a:latin typeface="Helvetica" pitchFamily="2" charset="0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4528FAD-345A-0BC7-2A11-9C829EBB13B8}"/>
              </a:ext>
            </a:extLst>
          </p:cNvPr>
          <p:cNvCxnSpPr>
            <a:cxnSpLocks/>
          </p:cNvCxnSpPr>
          <p:nvPr/>
        </p:nvCxnSpPr>
        <p:spPr>
          <a:xfrm flipV="1">
            <a:off x="391492" y="5859887"/>
            <a:ext cx="0" cy="7209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C9C173D-DC52-232D-5C66-8487F883714A}"/>
              </a:ext>
            </a:extLst>
          </p:cNvPr>
          <p:cNvCxnSpPr>
            <a:cxnSpLocks/>
          </p:cNvCxnSpPr>
          <p:nvPr/>
        </p:nvCxnSpPr>
        <p:spPr>
          <a:xfrm>
            <a:off x="391939" y="6580826"/>
            <a:ext cx="6254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D3864D4-F81B-6824-89ED-F9DB1A495180}"/>
              </a:ext>
            </a:extLst>
          </p:cNvPr>
          <p:cNvSpPr txBox="1"/>
          <p:nvPr/>
        </p:nvSpPr>
        <p:spPr>
          <a:xfrm>
            <a:off x="1075489" y="6390939"/>
            <a:ext cx="250068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+z</a:t>
            </a: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7635C95-5F1C-B109-1377-F80F27BBEA38}"/>
              </a:ext>
            </a:extLst>
          </p:cNvPr>
          <p:cNvSpPr/>
          <p:nvPr/>
        </p:nvSpPr>
        <p:spPr>
          <a:xfrm>
            <a:off x="3967700" y="5423444"/>
            <a:ext cx="4283293" cy="4902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25400">
                <a:solidFill>
                  <a:srgbClr val="FF0000"/>
                </a:solidFill>
              </a:ln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C7F4EC7-93B4-738E-EA1F-97594018D2C7}"/>
              </a:ext>
            </a:extLst>
          </p:cNvPr>
          <p:cNvSpPr txBox="1"/>
          <p:nvPr/>
        </p:nvSpPr>
        <p:spPr>
          <a:xfrm>
            <a:off x="4351630" y="6298606"/>
            <a:ext cx="34210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Rough area of uniformity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788C115-0A91-8E28-18A9-999E37757DB6}"/>
              </a:ext>
            </a:extLst>
          </p:cNvPr>
          <p:cNvSpPr txBox="1"/>
          <p:nvPr/>
        </p:nvSpPr>
        <p:spPr>
          <a:xfrm>
            <a:off x="140613" y="4419612"/>
            <a:ext cx="1762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Values used for later figures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54310E0-D4C8-AF05-EEE5-B04F47ADC08E}"/>
              </a:ext>
            </a:extLst>
          </p:cNvPr>
          <p:cNvGrpSpPr/>
          <p:nvPr/>
        </p:nvGrpSpPr>
        <p:grpSpPr>
          <a:xfrm rot="5400000">
            <a:off x="10236212" y="5497818"/>
            <a:ext cx="1124983" cy="476593"/>
            <a:chOff x="2049863" y="3077308"/>
            <a:chExt cx="1939332" cy="703384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C80C24F-B590-83A9-67B0-D54EB4266F49}"/>
                </a:ext>
              </a:extLst>
            </p:cNvPr>
            <p:cNvCxnSpPr/>
            <p:nvPr/>
          </p:nvCxnSpPr>
          <p:spPr>
            <a:xfrm>
              <a:off x="2049863" y="3077308"/>
              <a:ext cx="0" cy="7033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584976B-5627-0B5B-9F57-0A640940BF91}"/>
                </a:ext>
              </a:extLst>
            </p:cNvPr>
            <p:cNvCxnSpPr/>
            <p:nvPr/>
          </p:nvCxnSpPr>
          <p:spPr>
            <a:xfrm>
              <a:off x="3989195" y="3077308"/>
              <a:ext cx="0" cy="7033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EE02E80-0DB1-5272-2799-A37F2B5DA9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49863" y="3219719"/>
              <a:ext cx="1939332" cy="0"/>
            </a:xfrm>
            <a:prstGeom prst="line">
              <a:avLst/>
            </a:prstGeom>
            <a:ln w="1905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D20A0687-DEDC-C712-4315-E440CDF29EF4}"/>
              </a:ext>
            </a:extLst>
          </p:cNvPr>
          <p:cNvSpPr txBox="1"/>
          <p:nvPr/>
        </p:nvSpPr>
        <p:spPr>
          <a:xfrm>
            <a:off x="11047228" y="5595817"/>
            <a:ext cx="469680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1.62</a:t>
            </a:r>
            <a:r>
              <a:rPr lang="en-US" sz="1200" dirty="0">
                <a:effectLst/>
                <a:latin typeface="Helvetica" pitchFamily="2" charset="0"/>
              </a:rPr>
              <a:t> m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8D3CF85-DB39-16AF-BC1E-F171E7D7290A}"/>
              </a:ext>
            </a:extLst>
          </p:cNvPr>
          <p:cNvCxnSpPr/>
          <p:nvPr/>
        </p:nvCxnSpPr>
        <p:spPr>
          <a:xfrm>
            <a:off x="2527300" y="5173622"/>
            <a:ext cx="0" cy="1124984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72BDD3A-1417-4F22-37D7-9AFE3C6E5D04}"/>
              </a:ext>
            </a:extLst>
          </p:cNvPr>
          <p:cNvCxnSpPr/>
          <p:nvPr/>
        </p:nvCxnSpPr>
        <p:spPr>
          <a:xfrm>
            <a:off x="2743200" y="5173622"/>
            <a:ext cx="0" cy="1124984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58AF323-A1AB-C42B-8616-A82A415D3038}"/>
              </a:ext>
            </a:extLst>
          </p:cNvPr>
          <p:cNvCxnSpPr/>
          <p:nvPr/>
        </p:nvCxnSpPr>
        <p:spPr>
          <a:xfrm>
            <a:off x="2959100" y="5173622"/>
            <a:ext cx="0" cy="1124984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9B22654-D9B0-259F-978E-63AE1BBA997C}"/>
              </a:ext>
            </a:extLst>
          </p:cNvPr>
          <p:cNvCxnSpPr/>
          <p:nvPr/>
        </p:nvCxnSpPr>
        <p:spPr>
          <a:xfrm>
            <a:off x="3175000" y="5173622"/>
            <a:ext cx="0" cy="1124984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5C03060-D3B3-BB7B-4FBC-BE362DEEABF4}"/>
              </a:ext>
            </a:extLst>
          </p:cNvPr>
          <p:cNvCxnSpPr/>
          <p:nvPr/>
        </p:nvCxnSpPr>
        <p:spPr>
          <a:xfrm>
            <a:off x="3390900" y="5173622"/>
            <a:ext cx="0" cy="1124984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EB84FF58-9865-72DA-1A51-4C3DC8F5C3CF}"/>
              </a:ext>
            </a:extLst>
          </p:cNvPr>
          <p:cNvSpPr txBox="1"/>
          <p:nvPr/>
        </p:nvSpPr>
        <p:spPr>
          <a:xfrm>
            <a:off x="2155237" y="6306663"/>
            <a:ext cx="1603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6B0F0"/>
                </a:solidFill>
              </a:rPr>
              <a:t>Baseline Coils</a:t>
            </a:r>
          </a:p>
        </p:txBody>
      </p:sp>
    </p:spTree>
    <p:extLst>
      <p:ext uri="{BB962C8B-B14F-4D97-AF65-F5344CB8AC3E}">
        <p14:creationId xmlns:p14="http://schemas.microsoft.com/office/powerpoint/2010/main" val="1139679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4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593A8D-DF6D-A182-E79C-B1ADBD660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F1DA96-EFF1-7912-6573-A59DB48FC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54948">
            <a:off x="135409" y="270663"/>
            <a:ext cx="1628996" cy="69721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223ECAA-931D-33EF-4BA8-7FF7BFBC6C21}"/>
              </a:ext>
            </a:extLst>
          </p:cNvPr>
          <p:cNvCxnSpPr>
            <a:cxnSpLocks/>
          </p:cNvCxnSpPr>
          <p:nvPr/>
        </p:nvCxnSpPr>
        <p:spPr>
          <a:xfrm>
            <a:off x="-225381" y="1236373"/>
            <a:ext cx="12642761" cy="0"/>
          </a:xfrm>
          <a:prstGeom prst="line">
            <a:avLst/>
          </a:prstGeom>
          <a:ln>
            <a:solidFill>
              <a:srgbClr val="B311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645729C-594B-E53D-6D25-953F2A074B60}"/>
              </a:ext>
            </a:extLst>
          </p:cNvPr>
          <p:cNvSpPr txBox="1"/>
          <p:nvPr/>
        </p:nvSpPr>
        <p:spPr>
          <a:xfrm>
            <a:off x="2625775" y="296102"/>
            <a:ext cx="6940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Baseline Field: Generation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8DCD32-1D31-9151-0EE4-CE035B3A5C1A}"/>
              </a:ext>
            </a:extLst>
          </p:cNvPr>
          <p:cNvSpPr txBox="1"/>
          <p:nvPr/>
        </p:nvSpPr>
        <p:spPr>
          <a:xfrm>
            <a:off x="7062864" y="2088631"/>
            <a:ext cx="500671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Primary coils’ currents are optimized to generate uniform field at specified points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dirty="0">
              <a:solidFill>
                <a:prstClr val="black"/>
              </a:solidFill>
              <a:latin typeface="Aptos" panose="021100040202020202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Field uniformity is confirmed by measuring at additional points 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16DF61-C0D9-EF89-703E-4910E28DA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69" y="1993414"/>
            <a:ext cx="6805895" cy="3286108"/>
          </a:xfrm>
          <a:prstGeom prst="rect">
            <a:avLst/>
          </a:prstGeom>
          <a:ln>
            <a:solidFill>
              <a:srgbClr val="B31103"/>
            </a:solidFill>
          </a:ln>
        </p:spPr>
      </p:pic>
    </p:spTree>
    <p:extLst>
      <p:ext uri="{BB962C8B-B14F-4D97-AF65-F5344CB8AC3E}">
        <p14:creationId xmlns:p14="http://schemas.microsoft.com/office/powerpoint/2010/main" val="4232751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4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8C4B8E-6743-42D8-2350-801A7E2DA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7E845A6-3F49-C5E3-5438-D0E660781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54948">
            <a:off x="135409" y="270663"/>
            <a:ext cx="1628996" cy="69721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6EDD759-18DC-0BBB-9E0C-7AE305802D78}"/>
              </a:ext>
            </a:extLst>
          </p:cNvPr>
          <p:cNvCxnSpPr>
            <a:cxnSpLocks/>
          </p:cNvCxnSpPr>
          <p:nvPr/>
        </p:nvCxnSpPr>
        <p:spPr>
          <a:xfrm>
            <a:off x="-225381" y="1236373"/>
            <a:ext cx="12642761" cy="0"/>
          </a:xfrm>
          <a:prstGeom prst="line">
            <a:avLst/>
          </a:prstGeom>
          <a:ln>
            <a:solidFill>
              <a:srgbClr val="B311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1C21DD5-7A70-093C-A2D2-40951FF1186C}"/>
              </a:ext>
            </a:extLst>
          </p:cNvPr>
          <p:cNvSpPr txBox="1"/>
          <p:nvPr/>
        </p:nvSpPr>
        <p:spPr>
          <a:xfrm>
            <a:off x="2625775" y="296102"/>
            <a:ext cx="6940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Baseline Field: Limitations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B3BCF-488F-86B1-A993-9ACAE6827F0B}"/>
              </a:ext>
            </a:extLst>
          </p:cNvPr>
          <p:cNvSpPr txBox="1"/>
          <p:nvPr/>
        </p:nvSpPr>
        <p:spPr>
          <a:xfrm>
            <a:off x="340630" y="1735833"/>
            <a:ext cx="5006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xxx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036A50F-15C2-91DE-0EFE-03B2B19DDF1C}"/>
                  </a:ext>
                </a:extLst>
              </p:cNvPr>
              <p:cNvSpPr txBox="1"/>
              <p:nvPr/>
            </p:nvSpPr>
            <p:spPr>
              <a:xfrm>
                <a:off x="6153495" y="1637225"/>
                <a:ext cx="5006715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Aptos" panose="02110004020202020204"/>
                  </a:rPr>
                  <a:t>Only computes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lang="en-US" sz="2400" dirty="0">
                  <a:solidFill>
                    <a:prstClr val="black"/>
                  </a:solidFill>
                  <a:latin typeface="Aptos" panose="02110004020202020204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2400" noProof="0" dirty="0">
                    <a:solidFill>
                      <a:prstClr val="black"/>
                    </a:solidFill>
                    <a:latin typeface="Aptos" panose="02110004020202020204"/>
                  </a:rPr>
                  <a:t>Assumes azimuthal symmetry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2400" b="0" i="0" u="none" strike="noStrike" kern="1200" cap="none" spc="0" normalizeH="0" baseline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036A50F-15C2-91DE-0EFE-03B2B19DD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3495" y="1637225"/>
                <a:ext cx="5006715" cy="3970318"/>
              </a:xfrm>
              <a:prstGeom prst="rect">
                <a:avLst/>
              </a:prstGeom>
              <a:blipFill>
                <a:blip r:embed="rId3"/>
                <a:stretch>
                  <a:fillRect l="-1519" t="-1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7762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4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69DEF1-BF47-4612-6FF7-307212522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EF5CD6-1FBB-BC48-C15F-7CCE7A1B3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54948">
            <a:off x="191560" y="379032"/>
            <a:ext cx="3384829" cy="14487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50C7C6-3598-6A98-6A87-079ABA06E059}"/>
              </a:ext>
            </a:extLst>
          </p:cNvPr>
          <p:cNvSpPr txBox="1"/>
          <p:nvPr/>
        </p:nvSpPr>
        <p:spPr>
          <a:xfrm>
            <a:off x="3493712" y="2526614"/>
            <a:ext cx="5204575" cy="769441"/>
          </a:xfrm>
          <a:prstGeom prst="rect">
            <a:avLst/>
          </a:prstGeom>
          <a:noFill/>
          <a:ln w="25400">
            <a:solidFill>
              <a:srgbClr val="B31103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dirty="0">
                <a:solidFill>
                  <a:prstClr val="black"/>
                </a:solidFill>
                <a:latin typeface="Aptos Display" panose="02110004020202020204"/>
              </a:rPr>
              <a:t>Correcting Coils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5047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4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69B482-8C00-E8A8-C0D0-C88D1D14D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F4AF8A-0752-D8E8-4D1D-D3FD5B72A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54948">
            <a:off x="135409" y="270663"/>
            <a:ext cx="1628996" cy="69721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ED915A3-F623-1EDB-0089-C732B9E731F2}"/>
              </a:ext>
            </a:extLst>
          </p:cNvPr>
          <p:cNvCxnSpPr>
            <a:cxnSpLocks/>
          </p:cNvCxnSpPr>
          <p:nvPr/>
        </p:nvCxnSpPr>
        <p:spPr>
          <a:xfrm>
            <a:off x="-225381" y="1236373"/>
            <a:ext cx="12642761" cy="0"/>
          </a:xfrm>
          <a:prstGeom prst="line">
            <a:avLst/>
          </a:prstGeom>
          <a:ln>
            <a:solidFill>
              <a:srgbClr val="B311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C6B0D6E-E31B-8928-33A4-FBC12987F95E}"/>
              </a:ext>
            </a:extLst>
          </p:cNvPr>
          <p:cNvSpPr txBox="1"/>
          <p:nvPr/>
        </p:nvSpPr>
        <p:spPr>
          <a:xfrm>
            <a:off x="2625775" y="296102"/>
            <a:ext cx="6940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Discrete </a:t>
            </a:r>
            <a:r>
              <a:rPr lang="en-US" sz="3600" dirty="0" err="1">
                <a:latin typeface="+mj-lt"/>
              </a:rPr>
              <a:t>Biot</a:t>
            </a:r>
            <a:r>
              <a:rPr lang="en-US" sz="3600" dirty="0">
                <a:latin typeface="+mj-lt"/>
              </a:rPr>
              <a:t>-Savart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0444C4-FC37-DE47-6283-36910F5F06C5}"/>
                  </a:ext>
                </a:extLst>
              </p:cNvPr>
              <p:cNvSpPr txBox="1"/>
              <p:nvPr/>
            </p:nvSpPr>
            <p:spPr>
              <a:xfrm>
                <a:off x="359764" y="1530314"/>
                <a:ext cx="5186597" cy="20462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b="1" dirty="0" err="1"/>
                  <a:t>Biot</a:t>
                </a:r>
                <a:r>
                  <a:rPr lang="en-US" sz="2800" b="1" dirty="0"/>
                  <a:t>-Savart Law:</a:t>
                </a:r>
              </a:p>
              <a:p>
                <a:endParaRPr lang="en-US" sz="2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 dirty="0" smtClean="0">
                          <a:latin typeface="Cambria Math" panose="02040503050406030204" pitchFamily="18" charset="0"/>
                        </a:rPr>
                        <m:t>𝐁</m:t>
                      </m:r>
                      <m:r>
                        <a:rPr lang="en-US" sz="2400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0" dirty="0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b="0" i="0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subHide m:val="on"/>
                          <m:supHide m:val="on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0" dirty="0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US" sz="2400" b="0" i="0" dirty="0" smtClean="0">
                                  <a:latin typeface="Cambria Math" panose="02040503050406030204" pitchFamily="18" charset="0"/>
                                </a:rPr>
                                <m:t> </m:t>
                              </m:r>
                              <m:r>
                                <a:rPr lang="en-US" sz="2400" b="0" i="0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2400" b="0" i="0" dirty="0" smtClean="0">
                                  <a:latin typeface="Cambria Math" panose="02040503050406030204" pitchFamily="18" charset="0"/>
                                </a:rPr>
                                <m:t>𝐥</m:t>
                              </m:r>
                              <m:r>
                                <a:rPr lang="en-US" sz="2400" b="0" i="0" dirty="0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2400" b="0" i="0" dirty="0" smtClean="0"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0" dirty="0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sz="2400" b="0" i="0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sz="2400" b="1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0444C4-FC37-DE47-6283-36910F5F0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64" y="1530314"/>
                <a:ext cx="5186597" cy="2046266"/>
              </a:xfrm>
              <a:prstGeom prst="rect">
                <a:avLst/>
              </a:prstGeom>
              <a:blipFill>
                <a:blip r:embed="rId3"/>
                <a:stretch>
                  <a:fillRect l="-2200" t="-36420" b="-895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2B3A3D9-6754-B5B7-9BBA-9A4680D5F577}"/>
              </a:ext>
            </a:extLst>
          </p:cNvPr>
          <p:cNvSpPr txBox="1"/>
          <p:nvPr/>
        </p:nvSpPr>
        <p:spPr>
          <a:xfrm>
            <a:off x="4267200" y="2567179"/>
            <a:ext cx="5293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(1)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9889BF2A-8BF3-41F8-E27E-FD8F2A964F2E}"/>
              </a:ext>
            </a:extLst>
          </p:cNvPr>
          <p:cNvSpPr/>
          <p:nvPr/>
        </p:nvSpPr>
        <p:spPr>
          <a:xfrm>
            <a:off x="1236133" y="4368800"/>
            <a:ext cx="1032934" cy="37253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847ACEA-CCC2-C28F-2451-926DE3FC82AE}"/>
                  </a:ext>
                </a:extLst>
              </p:cNvPr>
              <p:cNvSpPr txBox="1"/>
              <p:nvPr/>
            </p:nvSpPr>
            <p:spPr>
              <a:xfrm>
                <a:off x="2533485" y="4068103"/>
                <a:ext cx="6025752" cy="10906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𝐁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num>
                            <m:den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  <m:d>
                            <m:d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 smtClean="0"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sz="2400" i="1" dirty="0" err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 smtClean="0"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e>
                          </m:d>
                          <m:f>
                            <m:f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 dirty="0" err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 err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2400" i="1" dirty="0" err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400" i="1" dirty="0" err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 err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2400" i="1" dirty="0" err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sz="2400" i="1" dirty="0" err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 err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400" i="1" dirty="0" err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 dirty="0" err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 err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400" i="1" dirty="0" err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 dirty="0" err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 err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2400" i="1" dirty="0" err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400" i="1" dirty="0" err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 err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2400" i="1" dirty="0" err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b>
                                  </m:sSub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 dirty="0" smtClean="0">
                                              <a:latin typeface="Cambria Math" panose="02040503050406030204" pitchFamily="18" charset="0"/>
                                            </a:rPr>
                                            <m:t>𝐑</m:t>
                                          </m:r>
                                        </m:e>
                                        <m:sub>
                                          <m:r>
                                            <a:rPr lang="en-US" sz="2400" i="1" dirty="0" err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 dirty="0" smtClean="0">
                                              <a:latin typeface="Cambria Math" panose="02040503050406030204" pitchFamily="18" charset="0"/>
                                            </a:rPr>
                                            <m:t>𝐑</m:t>
                                          </m:r>
                                        </m:e>
                                        <m:sub>
                                          <m:r>
                                            <a:rPr lang="en-US" sz="2400" i="1" dirty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847ACEA-CCC2-C28F-2451-926DE3FC8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485" y="4068103"/>
                <a:ext cx="6025752" cy="1090683"/>
              </a:xfrm>
              <a:prstGeom prst="rect">
                <a:avLst/>
              </a:prstGeom>
              <a:blipFill>
                <a:blip r:embed="rId4"/>
                <a:stretch>
                  <a:fillRect l="-5895" t="-112644" r="-632" b="-1597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6041CF9-FA7B-9335-056C-5B86B389B612}"/>
              </a:ext>
            </a:extLst>
          </p:cNvPr>
          <p:cNvSpPr txBox="1"/>
          <p:nvPr/>
        </p:nvSpPr>
        <p:spPr>
          <a:xfrm>
            <a:off x="8546682" y="4324233"/>
            <a:ext cx="5293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(2)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B20666-E905-12FB-D1A5-D544A7F86511}"/>
              </a:ext>
            </a:extLst>
          </p:cNvPr>
          <p:cNvSpPr txBox="1"/>
          <p:nvPr/>
        </p:nvSpPr>
        <p:spPr>
          <a:xfrm>
            <a:off x="6095998" y="1804299"/>
            <a:ext cx="54186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Discretize by breaking a current loop into </a:t>
            </a:r>
            <a:r>
              <a:rPr lang="en-US" sz="2400" i="1" dirty="0"/>
              <a:t>j</a:t>
            </a:r>
            <a:r>
              <a:rPr lang="en-US" sz="2400" dirty="0"/>
              <a:t> straight small line segments.</a:t>
            </a:r>
          </a:p>
        </p:txBody>
      </p:sp>
    </p:spTree>
    <p:extLst>
      <p:ext uri="{BB962C8B-B14F-4D97-AF65-F5344CB8AC3E}">
        <p14:creationId xmlns:p14="http://schemas.microsoft.com/office/powerpoint/2010/main" val="3856962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4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79ADE8-3778-0354-7DD2-B4DCAEB58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85823F7-39A7-69FE-90FA-D9F56FD02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54948">
            <a:off x="135409" y="270663"/>
            <a:ext cx="1628996" cy="69721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AABCEEE-C861-9540-C4F3-3CEA5EE90587}"/>
              </a:ext>
            </a:extLst>
          </p:cNvPr>
          <p:cNvCxnSpPr>
            <a:cxnSpLocks/>
          </p:cNvCxnSpPr>
          <p:nvPr/>
        </p:nvCxnSpPr>
        <p:spPr>
          <a:xfrm>
            <a:off x="-225381" y="1236373"/>
            <a:ext cx="12642761" cy="0"/>
          </a:xfrm>
          <a:prstGeom prst="line">
            <a:avLst/>
          </a:prstGeom>
          <a:ln>
            <a:solidFill>
              <a:srgbClr val="B311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C8238F1-AC79-3B34-7713-E451889E79F2}"/>
              </a:ext>
            </a:extLst>
          </p:cNvPr>
          <p:cNvSpPr txBox="1"/>
          <p:nvPr/>
        </p:nvSpPr>
        <p:spPr>
          <a:xfrm>
            <a:off x="2625775" y="296102"/>
            <a:ext cx="6940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Preliminary B-Field Computation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75CE9E-6B3D-A16A-9753-F105B91ADECB}"/>
              </a:ext>
            </a:extLst>
          </p:cNvPr>
          <p:cNvSpPr txBox="1"/>
          <p:nvPr/>
        </p:nvSpPr>
        <p:spPr>
          <a:xfrm>
            <a:off x="359764" y="1530314"/>
            <a:ext cx="518659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Initially applied discretization and visualization to simple geometries in MATLAB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Supports multiple coils and arbitrary currents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Results were later ported into 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12469A-79C7-7A13-A8DF-5C2E69309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229" y="1463918"/>
            <a:ext cx="5502007" cy="3783947"/>
          </a:xfrm>
          <a:prstGeom prst="rect">
            <a:avLst/>
          </a:prstGeom>
          <a:ln>
            <a:solidFill>
              <a:srgbClr val="B31103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948209-C189-3E54-1BFA-6D2E16E779CE}"/>
              </a:ext>
            </a:extLst>
          </p:cNvPr>
          <p:cNvSpPr txBox="1"/>
          <p:nvPr/>
        </p:nvSpPr>
        <p:spPr>
          <a:xfrm>
            <a:off x="6501968" y="5436961"/>
            <a:ext cx="5006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4: A visualization of the simulated, generated magnetic field from a skewed circular coil.</a:t>
            </a:r>
          </a:p>
        </p:txBody>
      </p:sp>
    </p:spTree>
    <p:extLst>
      <p:ext uri="{BB962C8B-B14F-4D97-AF65-F5344CB8AC3E}">
        <p14:creationId xmlns:p14="http://schemas.microsoft.com/office/powerpoint/2010/main" val="2647620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191E46-077C-5B4B-1CD2-4B618543C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8331E7E-B230-DB73-98F2-D94948E68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54948">
            <a:off x="135409" y="270663"/>
            <a:ext cx="1628996" cy="69721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9A25F35-C712-6AD1-DBE9-95BF4EA0A586}"/>
              </a:ext>
            </a:extLst>
          </p:cNvPr>
          <p:cNvCxnSpPr>
            <a:cxnSpLocks/>
          </p:cNvCxnSpPr>
          <p:nvPr/>
        </p:nvCxnSpPr>
        <p:spPr>
          <a:xfrm>
            <a:off x="-225381" y="1236373"/>
            <a:ext cx="12642761" cy="0"/>
          </a:xfrm>
          <a:prstGeom prst="line">
            <a:avLst/>
          </a:prstGeom>
          <a:ln>
            <a:solidFill>
              <a:srgbClr val="B311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D89BA9F-7386-EAFA-0F71-8FFB96F32680}"/>
              </a:ext>
            </a:extLst>
          </p:cNvPr>
          <p:cNvSpPr txBox="1"/>
          <p:nvPr/>
        </p:nvSpPr>
        <p:spPr>
          <a:xfrm>
            <a:off x="2625775" y="296102"/>
            <a:ext cx="6940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Aptos Display" panose="02110004020202020204"/>
              </a:rPr>
              <a:t>First-Order Gravitational Corrections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507182A-5909-0E8F-6B3E-B5157F9727FD}"/>
                  </a:ext>
                </a:extLst>
              </p:cNvPr>
              <p:cNvSpPr txBox="1"/>
              <p:nvPr/>
            </p:nvSpPr>
            <p:spPr>
              <a:xfrm>
                <a:off x="359764" y="1530314"/>
                <a:ext cx="5736236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  <a:defRPr/>
                </a:pPr>
                <a:r>
                  <a:rPr kumimoji="0" 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I used the functional form of a catenary curve (1) to set a vertical offset to coil positions as a function of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𝑧</m:t>
                    </m:r>
                  </m:oMath>
                </a14:m>
                <a:endParaRPr lang="en-US" sz="2400" dirty="0">
                  <a:solidFill>
                    <a:prstClr val="black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  <a:defRPr/>
                </a:pPr>
                <a:endParaRPr lang="en-US" sz="2400" dirty="0">
                  <a:solidFill>
                    <a:prstClr val="black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Aptos" panose="02110004020202020204"/>
                  </a:rPr>
                  <a:t>Fixed ends to have no offset, given argument for total length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Future processes work </a:t>
                </a:r>
                <a:r>
                  <a:rPr lang="en-US" sz="2400" dirty="0">
                    <a:solidFill>
                      <a:prstClr val="black"/>
                    </a:solidFill>
                    <a:latin typeface="Aptos" panose="02110004020202020204"/>
                  </a:rPr>
                  <a:t>similarly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for any arbitrary set of vertical coil offsets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507182A-5909-0E8F-6B3E-B5157F972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64" y="1530314"/>
                <a:ext cx="5736236" cy="3693319"/>
              </a:xfrm>
              <a:prstGeom prst="rect">
                <a:avLst/>
              </a:prstGeom>
              <a:blipFill>
                <a:blip r:embed="rId3"/>
                <a:stretch>
                  <a:fillRect l="-1545" t="-1370" r="-1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3BBD6CB-CDE3-5782-4AAA-DDED1BB47C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136" y="1441450"/>
            <a:ext cx="5245100" cy="3975100"/>
          </a:xfrm>
          <a:prstGeom prst="rect">
            <a:avLst/>
          </a:prstGeom>
          <a:ln>
            <a:solidFill>
              <a:srgbClr val="B31103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1B27F4E-DF56-D3A0-C99B-D0855A2FA379}"/>
                  </a:ext>
                </a:extLst>
              </p:cNvPr>
              <p:cNvSpPr txBox="1"/>
              <p:nvPr/>
            </p:nvSpPr>
            <p:spPr>
              <a:xfrm>
                <a:off x="429014" y="5621627"/>
                <a:ext cx="4868214" cy="645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cosh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–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    (1)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1B27F4E-DF56-D3A0-C99B-D0855A2FA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14" y="5621627"/>
                <a:ext cx="4868214" cy="645048"/>
              </a:xfrm>
              <a:prstGeom prst="rect">
                <a:avLst/>
              </a:prstGeom>
              <a:blipFill>
                <a:blip r:embed="rId5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68D058A9-D852-55C1-3AD1-285B09F7EC37}"/>
              </a:ext>
            </a:extLst>
          </p:cNvPr>
          <p:cNvSpPr txBox="1"/>
          <p:nvPr/>
        </p:nvSpPr>
        <p:spPr>
          <a:xfrm>
            <a:off x="6587136" y="5486845"/>
            <a:ext cx="5245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Multiple catenary curves are shown with different lengths = scale*separation and common boundaries of 0. </a:t>
            </a:r>
          </a:p>
        </p:txBody>
      </p:sp>
    </p:spTree>
    <p:extLst>
      <p:ext uri="{BB962C8B-B14F-4D97-AF65-F5344CB8AC3E}">
        <p14:creationId xmlns:p14="http://schemas.microsoft.com/office/powerpoint/2010/main" val="2086605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926358-6075-0598-0D95-62A7323AE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051DD6-9CD9-A2BA-D2CB-E6A3579B0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54948">
            <a:off x="135409" y="270663"/>
            <a:ext cx="1628996" cy="69721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D003D2F-04CE-2F93-0C27-F8EEACB5B028}"/>
              </a:ext>
            </a:extLst>
          </p:cNvPr>
          <p:cNvCxnSpPr>
            <a:cxnSpLocks/>
          </p:cNvCxnSpPr>
          <p:nvPr/>
        </p:nvCxnSpPr>
        <p:spPr>
          <a:xfrm>
            <a:off x="-225381" y="1236373"/>
            <a:ext cx="12642761" cy="0"/>
          </a:xfrm>
          <a:prstGeom prst="line">
            <a:avLst/>
          </a:prstGeom>
          <a:ln>
            <a:solidFill>
              <a:srgbClr val="B311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4CAF01D-DA1F-32E6-2EAB-39EA24FADF3A}"/>
              </a:ext>
            </a:extLst>
          </p:cNvPr>
          <p:cNvSpPr txBox="1"/>
          <p:nvPr/>
        </p:nvSpPr>
        <p:spPr>
          <a:xfrm>
            <a:off x="2625775" y="296102"/>
            <a:ext cx="6940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Aptos Display" panose="02110004020202020204"/>
              </a:rPr>
              <a:t>Field Differences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740121-EC34-7050-7031-F90D4F6DAE1F}"/>
              </a:ext>
            </a:extLst>
          </p:cNvPr>
          <p:cNvSpPr txBox="1"/>
          <p:nvPr/>
        </p:nvSpPr>
        <p:spPr>
          <a:xfrm>
            <a:off x="359764" y="1530314"/>
            <a:ext cx="50067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22B04D-C493-ED0A-714E-86F78A710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70" y="1511745"/>
            <a:ext cx="5300133" cy="3975100"/>
          </a:xfrm>
          <a:prstGeom prst="rect">
            <a:avLst/>
          </a:prstGeom>
          <a:ln>
            <a:solidFill>
              <a:srgbClr val="B31103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73E90F-54E0-EEF0-09C3-A49A5C81B2D9}"/>
              </a:ext>
            </a:extLst>
          </p:cNvPr>
          <p:cNvSpPr txBox="1"/>
          <p:nvPr/>
        </p:nvSpPr>
        <p:spPr>
          <a:xfrm>
            <a:off x="548286" y="5638568"/>
            <a:ext cx="5245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visualization of the magnetic field differences at multiple positions projected into the </a:t>
            </a:r>
            <a:r>
              <a:rPr lang="en-US" dirty="0" err="1"/>
              <a:t>yz</a:t>
            </a:r>
            <a:r>
              <a:rPr lang="en-US" dirty="0"/>
              <a:t>-plane.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42FA49-CFDD-0B1B-C8EB-19363AFD04C5}"/>
              </a:ext>
            </a:extLst>
          </p:cNvPr>
          <p:cNvSpPr txBox="1"/>
          <p:nvPr/>
        </p:nvSpPr>
        <p:spPr>
          <a:xfrm flipH="1">
            <a:off x="6371099" y="2160467"/>
            <a:ext cx="546113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3-D magnetic field was then computed for the baseline and first-order cases.</a:t>
            </a:r>
          </a:p>
          <a:p>
            <a:endParaRPr lang="en-US" sz="2400" dirty="0"/>
          </a:p>
          <a:p>
            <a:r>
              <a:rPr lang="en-US" sz="2400" dirty="0"/>
              <a:t>These were subtracted to obtain a field difference, which I then try to mimic using coil and current configurations.</a:t>
            </a:r>
          </a:p>
        </p:txBody>
      </p:sp>
    </p:spTree>
    <p:extLst>
      <p:ext uri="{BB962C8B-B14F-4D97-AF65-F5344CB8AC3E}">
        <p14:creationId xmlns:p14="http://schemas.microsoft.com/office/powerpoint/2010/main" val="3272926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E42CF9-C740-E82A-9F28-422C821BB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D6E351-E357-2E0B-09E7-C9782337F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54948">
            <a:off x="135409" y="270663"/>
            <a:ext cx="1628996" cy="69721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F8131A5-2D2F-8C79-2357-65B3EE1310DE}"/>
              </a:ext>
            </a:extLst>
          </p:cNvPr>
          <p:cNvCxnSpPr>
            <a:cxnSpLocks/>
          </p:cNvCxnSpPr>
          <p:nvPr/>
        </p:nvCxnSpPr>
        <p:spPr>
          <a:xfrm>
            <a:off x="-225381" y="1236373"/>
            <a:ext cx="12642761" cy="0"/>
          </a:xfrm>
          <a:prstGeom prst="line">
            <a:avLst/>
          </a:prstGeom>
          <a:ln>
            <a:solidFill>
              <a:srgbClr val="B311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952602C-123A-9AC0-F2EC-9887CEF1EEB0}"/>
              </a:ext>
            </a:extLst>
          </p:cNvPr>
          <p:cNvSpPr txBox="1"/>
          <p:nvPr/>
        </p:nvSpPr>
        <p:spPr>
          <a:xfrm>
            <a:off x="2625775" y="296102"/>
            <a:ext cx="6940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Aptos Display" panose="02110004020202020204"/>
              </a:rPr>
              <a:t>Cos(</a:t>
            </a:r>
            <a:r>
              <a:rPr lang="en-US" sz="3600" dirty="0" err="1">
                <a:solidFill>
                  <a:prstClr val="black"/>
                </a:solidFill>
                <a:latin typeface="Aptos Display" panose="02110004020202020204"/>
              </a:rPr>
              <a:t>θ</a:t>
            </a:r>
            <a:r>
              <a:rPr lang="el-GR" sz="3600" dirty="0">
                <a:solidFill>
                  <a:prstClr val="black"/>
                </a:solidFill>
                <a:latin typeface="Aptos Display" panose="02110004020202020204"/>
              </a:rPr>
              <a:t>)</a:t>
            </a:r>
            <a:r>
              <a:rPr lang="en-US" sz="3600" dirty="0">
                <a:solidFill>
                  <a:prstClr val="black"/>
                </a:solidFill>
                <a:latin typeface="Aptos Display" panose="02110004020202020204"/>
              </a:rPr>
              <a:t> Coil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6B1996-5E76-D3D8-D5DA-7E9C3C11E9C9}"/>
              </a:ext>
            </a:extLst>
          </p:cNvPr>
          <p:cNvSpPr txBox="1"/>
          <p:nvPr/>
        </p:nvSpPr>
        <p:spPr>
          <a:xfrm>
            <a:off x="6446531" y="1606815"/>
            <a:ext cx="500671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Generated a cos(</a:t>
            </a:r>
            <a:r>
              <a:rPr kumimoji="0" lang="el-G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θ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 coil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dirty="0">
              <a:solidFill>
                <a:prstClr val="black"/>
              </a:solidFill>
              <a:latin typeface="Aptos" panose="02110004020202020204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Showed that the field can’t give the desired offset pattern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013D84-3B24-4C46-2C2D-237CCC30AB05}"/>
              </a:ext>
            </a:extLst>
          </p:cNvPr>
          <p:cNvSpPr txBox="1"/>
          <p:nvPr/>
        </p:nvSpPr>
        <p:spPr>
          <a:xfrm>
            <a:off x="430067" y="5621621"/>
            <a:ext cx="524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typical field produced by a cos(</a:t>
            </a:r>
            <a:r>
              <a:rPr lang="el-GR" dirty="0"/>
              <a:t>θ</a:t>
            </a:r>
            <a:r>
              <a:rPr lang="en-US" dirty="0"/>
              <a:t>) coil.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8AC9F3-DB49-9E37-AAB4-572F2D47D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764" y="1582341"/>
            <a:ext cx="5385707" cy="4039280"/>
          </a:xfrm>
          <a:prstGeom prst="rect">
            <a:avLst/>
          </a:prstGeom>
          <a:ln>
            <a:solidFill>
              <a:srgbClr val="B31103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DB1EE04-3818-90FE-72FA-7AEAEB42C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6227" y="3310466"/>
            <a:ext cx="3004848" cy="319707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F71C190-73EC-1926-3B8A-6D51403607AC}"/>
              </a:ext>
            </a:extLst>
          </p:cNvPr>
          <p:cNvSpPr txBox="1"/>
          <p:nvPr/>
        </p:nvSpPr>
        <p:spPr>
          <a:xfrm>
            <a:off x="9566222" y="4097867"/>
            <a:ext cx="22660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example cos(</a:t>
            </a:r>
            <a:r>
              <a:rPr lang="el-GR" dirty="0"/>
              <a:t>θ</a:t>
            </a:r>
            <a:r>
              <a:rPr lang="en-US" dirty="0"/>
              <a:t>) coil geometry.</a:t>
            </a:r>
          </a:p>
        </p:txBody>
      </p:sp>
    </p:spTree>
    <p:extLst>
      <p:ext uri="{BB962C8B-B14F-4D97-AF65-F5344CB8AC3E}">
        <p14:creationId xmlns:p14="http://schemas.microsoft.com/office/powerpoint/2010/main" val="3440602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E92938-31FB-ABF2-2832-13EA99C20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1FC2436-18B9-FE17-91EF-49A994949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54948">
            <a:off x="191560" y="379032"/>
            <a:ext cx="3384829" cy="14487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1BD550-56FE-2851-9C6E-8087F9C8184D}"/>
              </a:ext>
            </a:extLst>
          </p:cNvPr>
          <p:cNvSpPr txBox="1"/>
          <p:nvPr/>
        </p:nvSpPr>
        <p:spPr>
          <a:xfrm>
            <a:off x="3493712" y="2526614"/>
            <a:ext cx="5204575" cy="769441"/>
          </a:xfrm>
          <a:prstGeom prst="rect">
            <a:avLst/>
          </a:prstGeom>
          <a:noFill/>
          <a:ln w="25400">
            <a:solidFill>
              <a:srgbClr val="B31103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dirty="0">
                <a:solidFill>
                  <a:prstClr val="black"/>
                </a:solidFill>
                <a:latin typeface="Aptos Display" panose="02110004020202020204"/>
              </a:rPr>
              <a:t>Solving in COMSOL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CC47BD-DA73-FF1C-207A-C9810DB2BE9C}"/>
              </a:ext>
            </a:extLst>
          </p:cNvPr>
          <p:cNvSpPr txBox="1"/>
          <p:nvPr/>
        </p:nvSpPr>
        <p:spPr>
          <a:xfrm>
            <a:off x="4563079" y="3429000"/>
            <a:ext cx="3065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Magnetic Fields, No Currents</a:t>
            </a:r>
          </a:p>
        </p:txBody>
      </p:sp>
    </p:spTree>
    <p:extLst>
      <p:ext uri="{BB962C8B-B14F-4D97-AF65-F5344CB8AC3E}">
        <p14:creationId xmlns:p14="http://schemas.microsoft.com/office/powerpoint/2010/main" val="3748817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246E1F-8233-3853-15A0-818F13152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7C2B4A6-E738-AA6C-8A4E-A5E75DA9C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54948">
            <a:off x="135409" y="270663"/>
            <a:ext cx="1628996" cy="69721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AD079F3-AB4A-CE81-C1FE-BC55974E9E1D}"/>
              </a:ext>
            </a:extLst>
          </p:cNvPr>
          <p:cNvCxnSpPr>
            <a:cxnSpLocks/>
          </p:cNvCxnSpPr>
          <p:nvPr/>
        </p:nvCxnSpPr>
        <p:spPr>
          <a:xfrm>
            <a:off x="-225381" y="1236373"/>
            <a:ext cx="12642761" cy="0"/>
          </a:xfrm>
          <a:prstGeom prst="line">
            <a:avLst/>
          </a:prstGeom>
          <a:ln>
            <a:solidFill>
              <a:srgbClr val="B311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15BC613-B1BA-E208-1401-A469AC32AAA3}"/>
              </a:ext>
            </a:extLst>
          </p:cNvPr>
          <p:cNvSpPr txBox="1"/>
          <p:nvPr/>
        </p:nvSpPr>
        <p:spPr>
          <a:xfrm>
            <a:off x="2625775" y="296102"/>
            <a:ext cx="6940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Aptos Display" panose="02110004020202020204"/>
              </a:rPr>
              <a:t>Problem Geometry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3349E5-09C2-C459-E4A5-518E6951A15D}"/>
              </a:ext>
            </a:extLst>
          </p:cNvPr>
          <p:cNvSpPr txBox="1"/>
          <p:nvPr/>
        </p:nvSpPr>
        <p:spPr>
          <a:xfrm>
            <a:off x="359762" y="2544727"/>
            <a:ext cx="5736236" cy="23083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0" dirty="0">
                <a:solidFill>
                  <a:prstClr val="black"/>
                </a:solidFill>
                <a:latin typeface="Aptos" panose="02110004020202020204"/>
              </a:rPr>
              <a:t>Create</a:t>
            </a:r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d a </a:t>
            </a:r>
            <a:r>
              <a:rPr lang="en-US" sz="2400" dirty="0">
                <a:solidFill>
                  <a:srgbClr val="FF0000"/>
                </a:solidFill>
                <a:latin typeface="Aptos" panose="02110004020202020204"/>
              </a:rPr>
              <a:t>cylindrical object </a:t>
            </a:r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and measured the surface normal magnetic flux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en-US" sz="2400" dirty="0">
              <a:solidFill>
                <a:prstClr val="black"/>
              </a:solidFill>
              <a:latin typeface="Aptos" panose="02110004020202020204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Created an </a:t>
            </a:r>
            <a:r>
              <a:rPr lang="en-US" sz="2400" dirty="0">
                <a:solidFill>
                  <a:srgbClr val="8A8AC1"/>
                </a:solidFill>
                <a:latin typeface="Aptos" panose="02110004020202020204"/>
              </a:rPr>
              <a:t>infinite element domain sphere </a:t>
            </a:r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surrounding the cylinder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536456-FF76-F791-0BD5-C41BF60AA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063" y="1606808"/>
            <a:ext cx="4972049" cy="4463660"/>
          </a:xfrm>
          <a:prstGeom prst="rect">
            <a:avLst/>
          </a:prstGeom>
          <a:ln>
            <a:solidFill>
              <a:srgbClr val="B31103"/>
            </a:solidFill>
          </a:ln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23EC469-B747-C86E-4A87-C57CCE081109}"/>
              </a:ext>
            </a:extLst>
          </p:cNvPr>
          <p:cNvCxnSpPr/>
          <p:nvPr/>
        </p:nvCxnSpPr>
        <p:spPr>
          <a:xfrm flipV="1">
            <a:off x="7658100" y="3838638"/>
            <a:ext cx="557213" cy="6190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967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C7EACC-F22B-4776-DD91-8494D4965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256B652-E826-F4A5-3AF6-61E54328B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54948">
            <a:off x="135409" y="270663"/>
            <a:ext cx="1628996" cy="69721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8DC420-7317-7286-7857-75CE129FBB93}"/>
              </a:ext>
            </a:extLst>
          </p:cNvPr>
          <p:cNvCxnSpPr>
            <a:cxnSpLocks/>
          </p:cNvCxnSpPr>
          <p:nvPr/>
        </p:nvCxnSpPr>
        <p:spPr>
          <a:xfrm>
            <a:off x="-225381" y="1236373"/>
            <a:ext cx="12642761" cy="0"/>
          </a:xfrm>
          <a:prstGeom prst="line">
            <a:avLst/>
          </a:prstGeom>
          <a:ln>
            <a:solidFill>
              <a:srgbClr val="B311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AD288FA-F96D-C569-5154-BF1910CEBC0B}"/>
              </a:ext>
            </a:extLst>
          </p:cNvPr>
          <p:cNvSpPr txBox="1"/>
          <p:nvPr/>
        </p:nvSpPr>
        <p:spPr>
          <a:xfrm>
            <a:off x="2625775" y="296102"/>
            <a:ext cx="6940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Aptos Display" panose="02110004020202020204"/>
              </a:rPr>
              <a:t>Magnetic Flux Boundary Conditions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F6969F-8DFE-357C-8E1A-40EC71159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58" y="2081501"/>
            <a:ext cx="3813042" cy="3540125"/>
          </a:xfrm>
          <a:prstGeom prst="rect">
            <a:avLst/>
          </a:prstGeom>
          <a:ln>
            <a:solidFill>
              <a:srgbClr val="B31103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6907B6-F255-D373-2DD6-03CC87FD4B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0764" y="2081500"/>
            <a:ext cx="3813042" cy="3540125"/>
          </a:xfrm>
          <a:prstGeom prst="rect">
            <a:avLst/>
          </a:prstGeom>
          <a:ln>
            <a:solidFill>
              <a:srgbClr val="B31103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E1B81A3-7DDA-27FF-38ED-E527D84090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3114" y="1658431"/>
            <a:ext cx="2221158" cy="4386262"/>
          </a:xfrm>
          <a:prstGeom prst="rect">
            <a:avLst/>
          </a:prstGeom>
          <a:ln>
            <a:solidFill>
              <a:srgbClr val="B31103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29FEA78-025B-DB94-315B-A1235F9F92B9}"/>
              </a:ext>
            </a:extLst>
          </p:cNvPr>
          <p:cNvSpPr txBox="1"/>
          <p:nvPr/>
        </p:nvSpPr>
        <p:spPr>
          <a:xfrm>
            <a:off x="1271588" y="4743450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1E1142-5070-A6F9-A518-F0A98DFDAB3F}"/>
              </a:ext>
            </a:extLst>
          </p:cNvPr>
          <p:cNvSpPr txBox="1"/>
          <p:nvPr/>
        </p:nvSpPr>
        <p:spPr>
          <a:xfrm>
            <a:off x="3057526" y="5111710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φ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56631B-EFDE-3DD4-4C3A-A8FFD56E5243}"/>
              </a:ext>
            </a:extLst>
          </p:cNvPr>
          <p:cNvSpPr txBox="1"/>
          <p:nvPr/>
        </p:nvSpPr>
        <p:spPr>
          <a:xfrm>
            <a:off x="1271588" y="1658431"/>
            <a:ext cx="2332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Normal Flux on edges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8343F3-E679-599F-14D6-C85C6F7C4339}"/>
              </a:ext>
            </a:extLst>
          </p:cNvPr>
          <p:cNvSpPr txBox="1"/>
          <p:nvPr/>
        </p:nvSpPr>
        <p:spPr>
          <a:xfrm>
            <a:off x="5485709" y="1745777"/>
            <a:ext cx="2173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Normal flux on ends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191554-7BC0-5D0A-F664-9EEC539D2E6D}"/>
              </a:ext>
            </a:extLst>
          </p:cNvPr>
          <p:cNvSpPr txBox="1"/>
          <p:nvPr/>
        </p:nvSpPr>
        <p:spPr>
          <a:xfrm>
            <a:off x="5833427" y="4699515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φ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BE7472-CA86-A1F7-C10E-86EEC4F19F63}"/>
              </a:ext>
            </a:extLst>
          </p:cNvPr>
          <p:cNvSpPr txBox="1"/>
          <p:nvPr/>
        </p:nvSpPr>
        <p:spPr>
          <a:xfrm>
            <a:off x="7316709" y="5280868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ρ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7DB7F9-F8D2-86DB-A1A3-1EC8677107FD}"/>
              </a:ext>
            </a:extLst>
          </p:cNvPr>
          <p:cNvSpPr txBox="1"/>
          <p:nvPr/>
        </p:nvSpPr>
        <p:spPr>
          <a:xfrm>
            <a:off x="8934341" y="6192566"/>
            <a:ext cx="2630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Definition of coordinates</a:t>
            </a:r>
          </a:p>
        </p:txBody>
      </p:sp>
    </p:spTree>
    <p:extLst>
      <p:ext uri="{BB962C8B-B14F-4D97-AF65-F5344CB8AC3E}">
        <p14:creationId xmlns:p14="http://schemas.microsoft.com/office/powerpoint/2010/main" val="3376502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AEFEAF-9C9E-4686-D2B5-224DB24EB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A2CAFE-1955-73ED-586D-7DC12F41D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54948">
            <a:off x="135409" y="270663"/>
            <a:ext cx="1628996" cy="69721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581BE7C-C3DA-7BEE-D509-09F466B568D7}"/>
              </a:ext>
            </a:extLst>
          </p:cNvPr>
          <p:cNvCxnSpPr>
            <a:cxnSpLocks/>
          </p:cNvCxnSpPr>
          <p:nvPr/>
        </p:nvCxnSpPr>
        <p:spPr>
          <a:xfrm>
            <a:off x="-225381" y="1236373"/>
            <a:ext cx="12642761" cy="0"/>
          </a:xfrm>
          <a:prstGeom prst="line">
            <a:avLst/>
          </a:prstGeom>
          <a:ln>
            <a:solidFill>
              <a:srgbClr val="B311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8CB49B6-6675-FA34-8F28-75F42A842EE9}"/>
              </a:ext>
            </a:extLst>
          </p:cNvPr>
          <p:cNvSpPr txBox="1"/>
          <p:nvPr/>
        </p:nvSpPr>
        <p:spPr>
          <a:xfrm>
            <a:off x="2625775" y="296102"/>
            <a:ext cx="6940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Aptos Display" panose="02110004020202020204"/>
              </a:rPr>
              <a:t>Magnetic Scalar Potential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62F7BB-4F14-B576-964E-34F37A649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519" y="1657351"/>
            <a:ext cx="4751767" cy="4411661"/>
          </a:xfrm>
          <a:prstGeom prst="rect">
            <a:avLst/>
          </a:prstGeom>
          <a:ln>
            <a:solidFill>
              <a:srgbClr val="B31103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54A87A-CE18-9A80-5E87-5BAABE5556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2518" y="1657351"/>
            <a:ext cx="4751767" cy="4405490"/>
          </a:xfrm>
          <a:prstGeom prst="rect">
            <a:avLst/>
          </a:prstGeom>
          <a:ln>
            <a:solidFill>
              <a:srgbClr val="B31103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0273524-42FC-7280-1946-C5443A833F95}"/>
                  </a:ext>
                </a:extLst>
              </p:cNvPr>
              <p:cNvSpPr txBox="1"/>
              <p:nvPr/>
            </p:nvSpPr>
            <p:spPr>
              <a:xfrm>
                <a:off x="747714" y="1657351"/>
                <a:ext cx="5502874" cy="5659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  <a:defRPr/>
                </a:pPr>
                <a:r>
                  <a:rPr lang="en-US" sz="2400" b="0" dirty="0">
                    <a:solidFill>
                      <a:prstClr val="black"/>
                    </a:solidFill>
                    <a:latin typeface="Aptos" panose="02110004020202020204"/>
                  </a:rPr>
                  <a:t>With no free currents, the </a:t>
                </a:r>
                <a:r>
                  <a:rPr lang="en-US" sz="2400" dirty="0">
                    <a:solidFill>
                      <a:prstClr val="black"/>
                    </a:solidFill>
                    <a:latin typeface="Aptos" panose="02110004020202020204"/>
                  </a:rPr>
                  <a:t>surface </a:t>
                </a:r>
                <a:r>
                  <a:rPr lang="en-US" sz="2400" b="0" dirty="0">
                    <a:solidFill>
                      <a:prstClr val="black"/>
                    </a:solidFill>
                    <a:latin typeface="Aptos" panose="02110004020202020204"/>
                  </a:rPr>
                  <a:t>follows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  <a:defRPr/>
                </a:pPr>
                <a:endParaRPr lang="en-US" sz="2400" dirty="0">
                  <a:solidFill>
                    <a:prstClr val="black"/>
                  </a:solidFill>
                  <a:latin typeface="Aptos" panose="02110004020202020204"/>
                </a:endParaRP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acc>
                        <m:accPr>
                          <m:chr m:val="⃗"/>
                          <m:ctrlP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</m:acc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sz="2400" b="0" dirty="0">
                  <a:solidFill>
                    <a:prstClr val="black"/>
                  </a:solidFill>
                  <a:latin typeface="Aptos" panose="02110004020202020204"/>
                </a:endParaRPr>
              </a:p>
              <a:p>
                <a:pPr>
                  <a:defRPr/>
                </a:pPr>
                <a:endParaRPr lang="en-US" sz="2400" dirty="0">
                  <a:solidFill>
                    <a:prstClr val="black"/>
                  </a:solidFill>
                  <a:latin typeface="Aptos" panose="02110004020202020204"/>
                </a:endParaRPr>
              </a:p>
              <a:p>
                <a:pPr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Aptos" panose="02110004020202020204"/>
                  </a:rPr>
                  <a:t>      and</a:t>
                </a:r>
              </a:p>
              <a:p>
                <a:pPr>
                  <a:defRPr/>
                </a:pPr>
                <a:endParaRPr lang="en-US" sz="2400" dirty="0">
                  <a:solidFill>
                    <a:prstClr val="black"/>
                  </a:solidFill>
                  <a:latin typeface="Aptos" panose="02110004020202020204"/>
                </a:endParaRPr>
              </a:p>
              <a:p>
                <a:pPr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Aptos" panose="02110004020202020204"/>
                  </a:rPr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dirty="0">
                  <a:solidFill>
                    <a:prstClr val="black"/>
                  </a:solidFill>
                  <a:latin typeface="Aptos" panose="02110004020202020204"/>
                </a:endParaRPr>
              </a:p>
              <a:p>
                <a:pPr>
                  <a:defRPr/>
                </a:pPr>
                <a:endParaRPr lang="en-US" sz="2400" dirty="0">
                  <a:solidFill>
                    <a:prstClr val="black"/>
                  </a:solidFill>
                  <a:latin typeface="Aptos" panose="02110004020202020204"/>
                </a:endParaRPr>
              </a:p>
              <a:p>
                <a:pPr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Aptos" panose="02110004020202020204"/>
                  </a:rPr>
                  <a:t>      giving </a:t>
                </a:r>
              </a:p>
              <a:p>
                <a:pPr>
                  <a:defRPr/>
                </a:pPr>
                <a:endParaRPr lang="en-US" sz="2400" b="0" dirty="0">
                  <a:solidFill>
                    <a:prstClr val="black"/>
                  </a:solidFill>
                  <a:latin typeface="Aptos" panose="02110004020202020204"/>
                </a:endParaRP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2400" b="0" dirty="0">
                  <a:solidFill>
                    <a:prstClr val="black"/>
                  </a:solidFill>
                  <a:latin typeface="Aptos" panose="02110004020202020204"/>
                </a:endParaRP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 × −</m:t>
                      </m:r>
                      <m:acc>
                        <m:accPr>
                          <m:chr m:val="⃗"/>
                          <m:ctrlP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</m:acc>
                      <m:d>
                        <m:dPr>
                          <m:ctrlP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out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acc>
                    </m:oMath>
                  </m:oMathPara>
                </a14:m>
                <a:endParaRPr lang="en-US" sz="2400" b="0" dirty="0">
                  <a:solidFill>
                    <a:prstClr val="black"/>
                  </a:solidFill>
                  <a:latin typeface="Aptos" panose="02110004020202020204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  <a:defRPr/>
                </a:pPr>
                <a:endParaRPr kumimoji="0" lang="en-US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0273524-42FC-7280-1946-C5443A833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714" y="1657351"/>
                <a:ext cx="5502874" cy="5659113"/>
              </a:xfrm>
              <a:prstGeom prst="rect">
                <a:avLst/>
              </a:prstGeom>
              <a:blipFill>
                <a:blip r:embed="rId5"/>
                <a:stretch>
                  <a:fillRect l="-1613" t="-8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5710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28057C-FAB0-D25F-78B6-407FB2442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11F3636-C020-6EB1-B93C-D4ADFB307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54948">
            <a:off x="135409" y="270663"/>
            <a:ext cx="1628996" cy="69721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ACFEAC9-1B4E-9899-A8FB-9B80F17F4084}"/>
              </a:ext>
            </a:extLst>
          </p:cNvPr>
          <p:cNvCxnSpPr>
            <a:cxnSpLocks/>
          </p:cNvCxnSpPr>
          <p:nvPr/>
        </p:nvCxnSpPr>
        <p:spPr>
          <a:xfrm>
            <a:off x="-225381" y="1236373"/>
            <a:ext cx="12642761" cy="0"/>
          </a:xfrm>
          <a:prstGeom prst="line">
            <a:avLst/>
          </a:prstGeom>
          <a:ln>
            <a:solidFill>
              <a:srgbClr val="B311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A1F0015-BC77-7F74-38F2-776CF47B081D}"/>
              </a:ext>
            </a:extLst>
          </p:cNvPr>
          <p:cNvSpPr txBox="1"/>
          <p:nvPr/>
        </p:nvSpPr>
        <p:spPr>
          <a:xfrm>
            <a:off x="2625775" y="296102"/>
            <a:ext cx="6940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Aptos Display" panose="02110004020202020204"/>
              </a:rPr>
              <a:t>Correcting Coils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A69140-6D72-7FCC-08DB-7F0EF43F9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3" y="1530314"/>
            <a:ext cx="5172075" cy="4801886"/>
          </a:xfrm>
          <a:prstGeom prst="rect">
            <a:avLst/>
          </a:prstGeom>
          <a:ln>
            <a:solidFill>
              <a:srgbClr val="B31103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644A7B-80C6-07D6-8CF0-CA68A6381E4F}"/>
              </a:ext>
            </a:extLst>
          </p:cNvPr>
          <p:cNvSpPr txBox="1"/>
          <p:nvPr/>
        </p:nvSpPr>
        <p:spPr>
          <a:xfrm>
            <a:off x="6455764" y="1530314"/>
            <a:ext cx="5502874" cy="267765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Equipotential surface contours </a:t>
            </a:r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demonstrate where to place correcting coils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Currents are given by the change in magnetic scalar potential between </a:t>
            </a:r>
            <a:r>
              <a:rPr lang="en-US" sz="2400" dirty="0" err="1">
                <a:solidFill>
                  <a:prstClr val="black"/>
                </a:solidFill>
                <a:latin typeface="Aptos" panose="02110004020202020204"/>
              </a:rPr>
              <a:t>equipotentials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99773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1AF73A-D37A-2EE4-FD39-E55C1A7C4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4FAE90-E91C-D7A1-A0E6-ED964AA74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54948">
            <a:off x="135409" y="270663"/>
            <a:ext cx="1628996" cy="69721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81564D2-2F7C-53CD-A04A-CD736520DDD1}"/>
              </a:ext>
            </a:extLst>
          </p:cNvPr>
          <p:cNvCxnSpPr>
            <a:cxnSpLocks/>
          </p:cNvCxnSpPr>
          <p:nvPr/>
        </p:nvCxnSpPr>
        <p:spPr>
          <a:xfrm>
            <a:off x="-225381" y="1236373"/>
            <a:ext cx="12642761" cy="0"/>
          </a:xfrm>
          <a:prstGeom prst="line">
            <a:avLst/>
          </a:prstGeom>
          <a:ln>
            <a:solidFill>
              <a:srgbClr val="B311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714E11C-48A2-8D9D-8279-7863B806F526}"/>
              </a:ext>
            </a:extLst>
          </p:cNvPr>
          <p:cNvSpPr txBox="1"/>
          <p:nvPr/>
        </p:nvSpPr>
        <p:spPr>
          <a:xfrm>
            <a:off x="2625775" y="296102"/>
            <a:ext cx="6940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Aptos Display" panose="02110004020202020204"/>
              </a:rPr>
              <a:t>Field Comparisons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520E05-9E85-B4E0-D5BB-7F6D61E1A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879" y="1530314"/>
            <a:ext cx="5039908" cy="4091310"/>
          </a:xfrm>
          <a:prstGeom prst="rect">
            <a:avLst/>
          </a:prstGeom>
          <a:ln>
            <a:solidFill>
              <a:srgbClr val="B31103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6F147AC-02C3-4012-C5C4-050F54EF412E}"/>
              </a:ext>
            </a:extLst>
          </p:cNvPr>
          <p:cNvSpPr txBox="1"/>
          <p:nvPr/>
        </p:nvSpPr>
        <p:spPr>
          <a:xfrm>
            <a:off x="1566315" y="5725732"/>
            <a:ext cx="2927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ρ</a:t>
            </a:r>
            <a:r>
              <a:rPr lang="el-GR" dirty="0"/>
              <a:t> </a:t>
            </a:r>
            <a:r>
              <a:rPr lang="en-US" dirty="0"/>
              <a:t>&lt; 0.559 m, -3.8 &lt; z &lt; 3.8 m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86AD30E-7C46-3A03-D6BE-EB6756B774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946" b="2335"/>
          <a:stretch>
            <a:fillRect/>
          </a:stretch>
        </p:blipFill>
        <p:spPr>
          <a:xfrm>
            <a:off x="676003" y="1525146"/>
            <a:ext cx="4708029" cy="4096480"/>
          </a:xfrm>
          <a:prstGeom prst="rect">
            <a:avLst/>
          </a:prstGeom>
          <a:ln>
            <a:solidFill>
              <a:srgbClr val="B31103"/>
            </a:solidFill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E461471-709B-FAC5-418B-B080D9916364}"/>
              </a:ext>
            </a:extLst>
          </p:cNvPr>
          <p:cNvSpPr txBox="1"/>
          <p:nvPr/>
        </p:nvSpPr>
        <p:spPr>
          <a:xfrm>
            <a:off x="7157388" y="5668190"/>
            <a:ext cx="3156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ρ</a:t>
            </a:r>
            <a:r>
              <a:rPr lang="en-US" dirty="0"/>
              <a:t> &lt; 0.330 m, -1.75 &lt; z &lt; 1.75 m</a:t>
            </a:r>
          </a:p>
        </p:txBody>
      </p:sp>
    </p:spTree>
    <p:extLst>
      <p:ext uri="{BB962C8B-B14F-4D97-AF65-F5344CB8AC3E}">
        <p14:creationId xmlns:p14="http://schemas.microsoft.com/office/powerpoint/2010/main" val="41812063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95316D-B7B0-7FF4-3B96-1FA30A89B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1807132-7E0B-D3F2-2D2B-622F5AC3E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54948">
            <a:off x="135409" y="270663"/>
            <a:ext cx="1628996" cy="69721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EC29564-741C-38FE-D567-251C1CFE84F1}"/>
              </a:ext>
            </a:extLst>
          </p:cNvPr>
          <p:cNvCxnSpPr>
            <a:cxnSpLocks/>
          </p:cNvCxnSpPr>
          <p:nvPr/>
        </p:nvCxnSpPr>
        <p:spPr>
          <a:xfrm>
            <a:off x="-225381" y="1236373"/>
            <a:ext cx="12642761" cy="0"/>
          </a:xfrm>
          <a:prstGeom prst="line">
            <a:avLst/>
          </a:prstGeom>
          <a:ln>
            <a:solidFill>
              <a:srgbClr val="B311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2C6CF4A-C52E-E1C0-1500-2CDA9BD5A6AF}"/>
              </a:ext>
            </a:extLst>
          </p:cNvPr>
          <p:cNvSpPr txBox="1"/>
          <p:nvPr/>
        </p:nvSpPr>
        <p:spPr>
          <a:xfrm>
            <a:off x="2625775" y="296102"/>
            <a:ext cx="6940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Aptos Display" panose="02110004020202020204"/>
              </a:rPr>
              <a:t>Field Comparisons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AC1ECA-3EBE-E80C-3DCB-4591FA862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518" y="1820713"/>
            <a:ext cx="5286077" cy="3964558"/>
          </a:xfrm>
          <a:prstGeom prst="rect">
            <a:avLst/>
          </a:prstGeom>
          <a:ln>
            <a:solidFill>
              <a:srgbClr val="B31103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3402773-053F-76EB-A9C2-2ADB49B4A9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406" y="1820714"/>
            <a:ext cx="5286076" cy="3964557"/>
          </a:xfrm>
          <a:prstGeom prst="rect">
            <a:avLst/>
          </a:prstGeom>
          <a:ln>
            <a:solidFill>
              <a:srgbClr val="B31103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59FF7E7-CFE9-4FAE-A47F-825FA7090AD1}"/>
              </a:ext>
            </a:extLst>
          </p:cNvPr>
          <p:cNvSpPr txBox="1"/>
          <p:nvPr/>
        </p:nvSpPr>
        <p:spPr>
          <a:xfrm>
            <a:off x="742621" y="1526772"/>
            <a:ext cx="4627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108 Primary Coils, Flux sampled 25cm inside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41445FC-42CD-8350-B12B-F0E0D65B0D22}"/>
                  </a:ext>
                </a:extLst>
              </p:cNvPr>
              <p:cNvSpPr txBox="1"/>
              <p:nvPr/>
            </p:nvSpPr>
            <p:spPr>
              <a:xfrm>
                <a:off x="7245632" y="5862741"/>
                <a:ext cx="3779624" cy="506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offset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COMSOL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/20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41445FC-42CD-8350-B12B-F0E0D65B0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5632" y="5862741"/>
                <a:ext cx="3779624" cy="5068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7912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5518C2-804A-FACE-86FB-7B99EF362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FCB09DC-9343-221A-FD04-60AB24AA9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54948">
            <a:off x="135409" y="270663"/>
            <a:ext cx="1628996" cy="69721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2CD8A7-E4BE-893D-866B-F781266851C0}"/>
              </a:ext>
            </a:extLst>
          </p:cNvPr>
          <p:cNvCxnSpPr>
            <a:cxnSpLocks/>
          </p:cNvCxnSpPr>
          <p:nvPr/>
        </p:nvCxnSpPr>
        <p:spPr>
          <a:xfrm>
            <a:off x="-225381" y="1236373"/>
            <a:ext cx="12642761" cy="0"/>
          </a:xfrm>
          <a:prstGeom prst="line">
            <a:avLst/>
          </a:prstGeom>
          <a:ln>
            <a:solidFill>
              <a:srgbClr val="B311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797E10C-B433-C431-E98B-87F1DB1095CD}"/>
              </a:ext>
            </a:extLst>
          </p:cNvPr>
          <p:cNvSpPr txBox="1"/>
          <p:nvPr/>
        </p:nvSpPr>
        <p:spPr>
          <a:xfrm>
            <a:off x="2625775" y="296102"/>
            <a:ext cx="6940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Aptos Display" panose="02110004020202020204"/>
              </a:rPr>
              <a:t>Further Work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8C3403-2A98-9C5B-A72B-8D12178FBE7F}"/>
              </a:ext>
            </a:extLst>
          </p:cNvPr>
          <p:cNvSpPr txBox="1"/>
          <p:nvPr/>
        </p:nvSpPr>
        <p:spPr>
          <a:xfrm>
            <a:off x="654013" y="2207647"/>
            <a:ext cx="10883969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Making accurate correcting coils at more realistic positions through multipole expansions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dirty="0">
              <a:solidFill>
                <a:prstClr val="black"/>
              </a:solidFill>
              <a:latin typeface="Aptos" panose="021100040202020202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Tune corrections to final primary coil geometry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26481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4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9FFB13-6338-C6DC-7A06-96FFFE7A3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8339D8E-588C-9648-50CC-1F334E597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54948">
            <a:off x="135409" y="270663"/>
            <a:ext cx="1628996" cy="69721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F7AA11B-0076-EAB4-0482-85F4E26FDFA0}"/>
              </a:ext>
            </a:extLst>
          </p:cNvPr>
          <p:cNvCxnSpPr>
            <a:cxnSpLocks/>
          </p:cNvCxnSpPr>
          <p:nvPr/>
        </p:nvCxnSpPr>
        <p:spPr>
          <a:xfrm>
            <a:off x="-225381" y="1236373"/>
            <a:ext cx="12642761" cy="0"/>
          </a:xfrm>
          <a:prstGeom prst="line">
            <a:avLst/>
          </a:prstGeom>
          <a:ln>
            <a:solidFill>
              <a:srgbClr val="B311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98A0DB8-616C-ACCF-D487-E9DC5CD51745}"/>
              </a:ext>
            </a:extLst>
          </p:cNvPr>
          <p:cNvSpPr txBox="1"/>
          <p:nvPr/>
        </p:nvSpPr>
        <p:spPr>
          <a:xfrm>
            <a:off x="2625775" y="296102"/>
            <a:ext cx="6940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Aptos Display" panose="02110004020202020204"/>
              </a:rPr>
              <a:t>Summary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6486A7-AB1C-1007-0AE2-F2B83704B11F}"/>
              </a:ext>
            </a:extLst>
          </p:cNvPr>
          <p:cNvSpPr txBox="1"/>
          <p:nvPr/>
        </p:nvSpPr>
        <p:spPr>
          <a:xfrm>
            <a:off x="654013" y="2207647"/>
            <a:ext cx="1088396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Used Mubi’s script to determine coil currents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Discretized </a:t>
            </a:r>
            <a:r>
              <a:rPr lang="en-US" sz="2400" dirty="0" err="1">
                <a:solidFill>
                  <a:prstClr val="black"/>
                </a:solidFill>
                <a:latin typeface="Aptos" panose="02110004020202020204"/>
              </a:rPr>
              <a:t>Biot</a:t>
            </a:r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-Savart Law to compute vector B-field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Included first-order gravitational offset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Subtracted </a:t>
            </a:r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resultant field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Showed that basic </a:t>
            </a:r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cos(</a:t>
            </a:r>
            <a:r>
              <a:rPr lang="el-GR" sz="2400" dirty="0">
                <a:solidFill>
                  <a:prstClr val="black"/>
                </a:solidFill>
                <a:latin typeface="Aptos" panose="02110004020202020204"/>
              </a:rPr>
              <a:t>θ)</a:t>
            </a:r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 coil is unable to correct 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Working on using COMSOL to determine new correcting coil configuration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59867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4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444B4D-45AA-09EC-E3B8-B4F7AB70A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7276D1-4D13-00B5-4B2E-D1C17E187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54948">
            <a:off x="135409" y="270663"/>
            <a:ext cx="1628996" cy="69721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403307F-BAA1-5973-854B-762E0AE72432}"/>
              </a:ext>
            </a:extLst>
          </p:cNvPr>
          <p:cNvCxnSpPr>
            <a:cxnSpLocks/>
          </p:cNvCxnSpPr>
          <p:nvPr/>
        </p:nvCxnSpPr>
        <p:spPr>
          <a:xfrm>
            <a:off x="-225381" y="1236373"/>
            <a:ext cx="12642761" cy="0"/>
          </a:xfrm>
          <a:prstGeom prst="line">
            <a:avLst/>
          </a:prstGeom>
          <a:ln>
            <a:solidFill>
              <a:srgbClr val="B311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86549CB-62C6-A2AC-3A15-42736C5D614F}"/>
              </a:ext>
            </a:extLst>
          </p:cNvPr>
          <p:cNvSpPr txBox="1"/>
          <p:nvPr/>
        </p:nvSpPr>
        <p:spPr>
          <a:xfrm>
            <a:off x="2625775" y="296102"/>
            <a:ext cx="6940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Aptos Display" panose="02110004020202020204"/>
              </a:rPr>
              <a:t>Citations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E19D1D-AEFE-82E0-7B63-0C4246B38944}"/>
              </a:ext>
            </a:extLst>
          </p:cNvPr>
          <p:cNvSpPr txBox="1"/>
          <p:nvPr/>
        </p:nvSpPr>
        <p:spPr>
          <a:xfrm>
            <a:off x="447927" y="1402640"/>
            <a:ext cx="108127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[1] Wikipedia article </a:t>
            </a:r>
            <a:r>
              <a:rPr lang="en-US" sz="2400" i="1" dirty="0"/>
              <a:t>The Standard Model</a:t>
            </a:r>
          </a:p>
          <a:p>
            <a:endParaRPr lang="en-US" sz="2400" dirty="0"/>
          </a:p>
          <a:p>
            <a:r>
              <a:rPr lang="en-US" sz="2400" dirty="0"/>
              <a:t>[2] </a:t>
            </a:r>
            <a:r>
              <a:rPr lang="en-US" sz="2400" i="1" dirty="0"/>
              <a:t>Ioffe Magnet Design Criteria</a:t>
            </a:r>
            <a:r>
              <a:rPr lang="en-US" sz="2400" dirty="0"/>
              <a:t>, presentation to Project 8 Collaboration</a:t>
            </a:r>
          </a:p>
          <a:p>
            <a:endParaRPr lang="en-US" sz="2400" i="1" dirty="0"/>
          </a:p>
          <a:p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832654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18978</TotalTime>
  <Words>724</Words>
  <Application>Microsoft Macintosh PowerPoint</Application>
  <PresentationFormat>Widescreen</PresentationFormat>
  <Paragraphs>169</Paragraphs>
  <Slides>23</Slides>
  <Notes>0</Notes>
  <HiddenSlides>10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Cambria Math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Jonah Seguine</dc:creator>
  <cp:lastModifiedBy>Jonah Seguine</cp:lastModifiedBy>
  <cp:revision>14</cp:revision>
  <dcterms:created xsi:type="dcterms:W3CDTF">2026-06-04T19:42:56Z</dcterms:created>
  <dcterms:modified xsi:type="dcterms:W3CDTF">2026-07-27T18:47:45Z</dcterms:modified>
</cp:coreProperties>
</file>