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324" r:id="rId6"/>
    <p:sldId id="329" r:id="rId7"/>
    <p:sldId id="330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E1A2D-9EE8-EA73-5374-60F26CA49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B1A2C5-DBD1-D563-79E2-5401953BD4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E28C8F-835E-EAA8-689B-F64A69C1C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D12138-992B-36AA-8CCD-8A5B862CC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385AA-DFA3-9DF2-93D6-99AFD17239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52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0C3B65-3D58-889F-5D8E-F4C3FF2E7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5B6773-FA8A-5110-4693-6CEFB11524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15D5D5-4407-7203-2FBE-B7087AE75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B18627-8D91-2DAB-90C5-88B176EB5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073A24-41E7-8BFD-7639-5F4C999C7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269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E32D4-BC7A-989A-9772-0809D2CB9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3796B-71D3-861A-EA2E-C9511AD95F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673E6-D8BA-456E-D59E-1C8B1D081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70115-0FCA-BE38-75D7-08731D8A3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CA668D-4811-3B06-4CA6-189DE3EED3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42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815A1F-C351-6FA5-BB64-EBC75FC530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E1BFD-DEEB-00C7-8428-F75FB030AB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E517C6-2CEF-FAA7-6B66-9077C3BBF9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0B9905-E83B-2BF6-8A5F-35A01B5A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7195F6-08C5-E121-0183-B5E4444CA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A28CBA-ECB3-5EBE-8525-08F3C4A271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463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6DB62-0576-A4F8-BDD2-B0AC8F159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1ED131-3E48-49B7-B7D7-4E1AA26AE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49A599-3653-51A4-D07D-4F52AE5EBC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CB4B5-BB7C-67BA-4CC4-FC8B005BC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ADD7E7-1452-9824-5903-876581F621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A9139A-0A30-1833-6209-F69DF35F82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DB1062-6B9B-D571-9ADE-2D9EDD887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637F58-CC08-D2E5-0D81-66AD1FA75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27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C377F-7E5D-3C7A-7DA2-85F7622E3F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2C7532-9031-A0EC-8369-462C17FF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BE5787-490F-3810-5501-82DD88037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C01124-7A6B-FFCC-2155-BE2248554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8019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F6EA30A-4B40-DDC4-86DB-9E9ADA795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E06D9B-1122-03F9-22D1-65BA37E8BA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E04AE4-800E-D94C-35DC-72A78226B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618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C512E-4088-F26B-E9F2-ABE70DAEF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314A9-7D2D-EAE5-DFED-050E64881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A964A8-9610-BD11-0312-B444E3EFA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EFF38D-8972-B0DC-395C-E0CD80CF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3517EA-9F44-D242-3235-EF2F25B239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EB37FA-376B-0AD9-0F37-C65BCE22FD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4711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A1CD-25FF-4604-4573-58F0C1CC2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A5A4426-D4CC-7C72-D453-38E0EB3EA2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4CAFCB-BB0A-3CD3-A7AF-BC61B91B89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D945FD-97CB-86FF-417F-AA7F42D2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7B67D-35BF-D641-973A-E4D9F120E9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9AD6A9-C986-2DEC-43EC-7E24AD0C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5466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078DA-08A8-0416-06C9-8C37CB692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0427E9-CD12-0D19-F14E-106A577F9C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E505AC-04CF-AEED-2099-02B3043E1C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6ED469-861C-9B2B-A6A7-32AEE0C3B8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4CA1AC-9AD3-2AED-6FC7-C60D2D4B0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52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F8423C3-32D9-C876-08E2-3136C492C5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E8E7E-2C1E-20CE-814F-3E2CD25C67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F9F19-A43D-04D5-0B48-A3626C59C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CB2B8-0C2B-7496-134A-D3BE55A2D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72050-F80C-3129-D9C1-26F8747BF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059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529433-B58E-6A7B-CA5E-4C3515801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9338AA-7F14-9042-5CC1-4B9E7D62E7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73308-29E2-A4AB-440A-2773B148FA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C8E95-7A6C-41F9-B5EA-82898EDDE591}" type="datetimeFigureOut">
              <a:rPr lang="en-US" smtClean="0"/>
              <a:t>5/17/2026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6C8037-05CF-77FF-96C6-70C8AB0CE8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911CF-6F15-B5FE-7BD6-74E9CABD71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81B553E-4AC2-4737-AC11-6A88231D8C0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71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3.png"/><Relationship Id="rId3" Type="http://schemas.openxmlformats.org/officeDocument/2006/relationships/image" Target="../media/image158.png"/><Relationship Id="rId7" Type="http://schemas.openxmlformats.org/officeDocument/2006/relationships/image" Target="../media/image162.png"/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1.png"/><Relationship Id="rId11" Type="http://schemas.openxmlformats.org/officeDocument/2006/relationships/image" Target="../media/image166.png"/><Relationship Id="rId5" Type="http://schemas.openxmlformats.org/officeDocument/2006/relationships/image" Target="../media/image160.png"/><Relationship Id="rId10" Type="http://schemas.openxmlformats.org/officeDocument/2006/relationships/image" Target="../media/image165.png"/><Relationship Id="rId4" Type="http://schemas.openxmlformats.org/officeDocument/2006/relationships/image" Target="../media/image159.png"/><Relationship Id="rId9" Type="http://schemas.openxmlformats.org/officeDocument/2006/relationships/image" Target="../media/image16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8.png"/><Relationship Id="rId7" Type="http://schemas.openxmlformats.org/officeDocument/2006/relationships/image" Target="../media/image172.png"/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17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BB739-DF97-C8BA-8D7A-BC3EE30E6B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Fitting Procedure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DEEA10-6898-9D2C-3A28-1B85AC6A681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Mubi Khan</a:t>
            </a:r>
          </a:p>
        </p:txBody>
      </p:sp>
    </p:spTree>
    <p:extLst>
      <p:ext uri="{BB962C8B-B14F-4D97-AF65-F5344CB8AC3E}">
        <p14:creationId xmlns:p14="http://schemas.microsoft.com/office/powerpoint/2010/main" val="2228687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8D45A8-44D6-C4E6-E25C-D9FBFC954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74BC6-09C9-4ED8-ADF6-087D6F25D5BC}" type="slidenum">
              <a:rPr lang="en-US" smtClean="0"/>
              <a:t>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ED9A89-5106-CB97-B801-CFAE13689576}"/>
                  </a:ext>
                </a:extLst>
              </p:cNvPr>
              <p:cNvSpPr txBox="1"/>
              <p:nvPr/>
            </p:nvSpPr>
            <p:spPr>
              <a:xfrm>
                <a:off x="838200" y="301752"/>
                <a:ext cx="619963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 dirty="0">
                    <a:latin typeface="+mj-lt"/>
                    <a:ea typeface="Calibri" panose="020F0502020204030204" pitchFamily="34" charset="0"/>
                    <a:cs typeface="Calibri" panose="020F0502020204030204" pitchFamily="34" charset="0"/>
                  </a:rPr>
                  <a:t>General fitting procedure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𝒏</m:t>
                    </m:r>
                  </m:oMath>
                </a14:m>
                <a:r>
                  <a:rPr lang="en-US" sz="2000" b="1" dirty="0">
                    <a:latin typeface="+mj-lt"/>
                    <a:ea typeface="Calibri" panose="020F0502020204030204" pitchFamily="34" charset="0"/>
                    <a:cs typeface="Calibri" panose="020F0502020204030204" pitchFamily="34" charset="0"/>
                  </a:rPr>
                  <a:t> coils,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𝒎</m:t>
                    </m:r>
                  </m:oMath>
                </a14:m>
                <a:r>
                  <a:rPr lang="en-US" sz="2000" b="1" dirty="0">
                    <a:latin typeface="+mj-lt"/>
                    <a:ea typeface="Calibri" panose="020F0502020204030204" pitchFamily="34" charset="0"/>
                    <a:cs typeface="Calibri" panose="020F0502020204030204" pitchFamily="34" charset="0"/>
                  </a:rPr>
                  <a:t> constraint points</a:t>
                </a:r>
                <a:r>
                  <a:rPr lang="en-US" sz="20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FED9A89-5106-CB97-B801-CFAE13689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301752"/>
                <a:ext cx="6199632" cy="400110"/>
              </a:xfrm>
              <a:prstGeom prst="rect">
                <a:avLst/>
              </a:prstGeom>
              <a:blipFill>
                <a:blip r:embed="rId2"/>
                <a:stretch>
                  <a:fillRect l="-1082" t="-9231" b="-261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D79D1F-B1FA-421D-7563-2316397C4197}"/>
                  </a:ext>
                </a:extLst>
              </p:cNvPr>
              <p:cNvSpPr txBox="1"/>
              <p:nvPr/>
            </p:nvSpPr>
            <p:spPr>
              <a:xfrm>
                <a:off x="969264" y="969264"/>
                <a:ext cx="10384536" cy="6686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US" dirty="0"/>
                  <a:t>Define coil geometry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unknowns currents)</a:t>
                </a:r>
              </a:p>
              <a:p>
                <a:r>
                  <a:rPr lang="en-US" dirty="0"/>
                  <a:t>	place n circular coils with fixed radii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and axial positions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dirty="0"/>
                  <a:t> and unknown currents  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E9D79D1F-B1FA-421D-7563-2316397C41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969264"/>
                <a:ext cx="10384536" cy="668645"/>
              </a:xfrm>
              <a:prstGeom prst="rect">
                <a:avLst/>
              </a:prstGeom>
              <a:blipFill>
                <a:blip r:embed="rId3"/>
                <a:stretch>
                  <a:fillRect l="-469" t="-4545" b="-109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DAD4FD-B8EB-1B8C-B7AE-891A561A8BB7}"/>
                  </a:ext>
                </a:extLst>
              </p:cNvPr>
              <p:cNvSpPr txBox="1"/>
              <p:nvPr/>
            </p:nvSpPr>
            <p:spPr>
              <a:xfrm>
                <a:off x="979278" y="2237600"/>
                <a:ext cx="5961888" cy="14783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0" dirty="0">
                    <a:ea typeface="Cambria Math" panose="02040503050406030204" pitchFamily="18" charset="0"/>
                  </a:rPr>
                  <a:t>2.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Choose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constraints points on the axes</a:t>
                </a:r>
              </a:p>
              <a:p>
                <a:r>
                  <a:rPr lang="en-US" dirty="0"/>
                  <a:t>	build a list of points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, </m:t>
                                </m:r>
                                <m:sSub>
                                  <m:sSubPr>
                                    <m:ctrl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bSup>
                  </m:oMath>
                </a14:m>
                <a:endParaRPr lang="en-US" dirty="0"/>
              </a:p>
              <a:p>
                <a:r>
                  <a:rPr lang="en-US" dirty="0"/>
                  <a:t>	*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lang="en-US" dirty="0"/>
                  <a:t>-axis: r = 0, sample</a:t>
                </a:r>
              </a:p>
              <a:p>
                <a:r>
                  <a:rPr lang="en-US" dirty="0"/>
                  <a:t> </a:t>
                </a:r>
              </a:p>
              <a:p>
                <a:r>
                  <a:rPr lang="en-US" dirty="0"/>
                  <a:t>	*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-axis: z = 0, sample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EDAD4FD-B8EB-1B8C-B7AE-891A561A8B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9278" y="2237600"/>
                <a:ext cx="5961888" cy="1478353"/>
              </a:xfrm>
              <a:prstGeom prst="rect">
                <a:avLst/>
              </a:prstGeom>
              <a:blipFill>
                <a:blip r:embed="rId4"/>
                <a:stretch>
                  <a:fillRect l="-920" t="-2058" b="-53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84E38C-E82A-AE6D-2AD4-18AF6A84DD11}"/>
                  </a:ext>
                </a:extLst>
              </p:cNvPr>
              <p:cNvSpPr txBox="1"/>
              <p:nvPr/>
            </p:nvSpPr>
            <p:spPr>
              <a:xfrm>
                <a:off x="969264" y="3917540"/>
                <a:ext cx="9019066" cy="25853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3.   Compute the forward model (design matrix)</a:t>
                </a:r>
              </a:p>
              <a:p>
                <a:r>
                  <a:rPr lang="en-US" dirty="0"/>
                  <a:t>	For each point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dirty="0"/>
                  <a:t> and coil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US" dirty="0"/>
                  <a:t>, compute the coil’s contribution to the axial field</a:t>
                </a:r>
              </a:p>
              <a:p>
                <a:r>
                  <a:rPr lang="en-US" dirty="0"/>
                  <a:t>	* field at any point per 1 A-turn in coil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𝑗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	</a:t>
                </a:r>
              </a:p>
              <a:p>
                <a:r>
                  <a:rPr lang="en-US" dirty="0"/>
                  <a:t>                    * stack these into</a:t>
                </a:r>
              </a:p>
              <a:p>
                <a:r>
                  <a:rPr lang="en-US" dirty="0"/>
                  <a:t>	* the predicted field is linear in currents: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𝑰</m:t>
                    </m:r>
                  </m:oMath>
                </a14:m>
                <a:r>
                  <a:rPr lang="en-US" b="1" dirty="0"/>
                  <a:t>,  </a:t>
                </a:r>
                <a14:m>
                  <m:oMath xmlns:m="http://schemas.openxmlformats.org/officeDocument/2006/math">
                    <m:r>
                      <a:rPr lang="en-US" b="1" i="1" smtClean="0">
                        <a:latin typeface="Cambria Math" panose="02040503050406030204" pitchFamily="18" charset="0"/>
                      </a:rPr>
                      <m:t>𝒃</m:t>
                    </m:r>
                    <m:r>
                      <a:rPr lang="en-US" b="1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 …</m:t>
                        </m:r>
                        <m:sSub>
                          <m:sSubPr>
                            <m:ctrlPr>
                              <a:rPr lang="en-US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9A84E38C-E82A-AE6D-2AD4-18AF6A84DD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9264" y="3917540"/>
                <a:ext cx="9019066" cy="2585323"/>
              </a:xfrm>
              <a:prstGeom prst="rect">
                <a:avLst/>
              </a:prstGeom>
              <a:blipFill>
                <a:blip r:embed="rId5"/>
                <a:stretch>
                  <a:fillRect l="-541" t="-141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725382F-3735-DC5C-C7B4-D6EA08EC90E7}"/>
                  </a:ext>
                </a:extLst>
              </p:cNvPr>
              <p:cNvSpPr txBox="1"/>
              <p:nvPr/>
            </p:nvSpPr>
            <p:spPr>
              <a:xfrm>
                <a:off x="5086754" y="1709894"/>
                <a:ext cx="195107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=[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 …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725382F-3735-DC5C-C7B4-D6EA08EC90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754" y="1709894"/>
                <a:ext cx="1951078" cy="369332"/>
              </a:xfrm>
              <a:prstGeom prst="rect">
                <a:avLst/>
              </a:prstGeom>
              <a:blipFill>
                <a:blip r:embed="rId6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FCB652-CAAD-8F4D-5812-57579BA77DBD}"/>
                  </a:ext>
                </a:extLst>
              </p:cNvPr>
              <p:cNvSpPr txBox="1"/>
              <p:nvPr/>
            </p:nvSpPr>
            <p:spPr>
              <a:xfrm>
                <a:off x="4146827" y="2819607"/>
                <a:ext cx="1199944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𝑟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[0,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7FCB652-CAAD-8F4D-5812-57579BA77D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827" y="2819607"/>
                <a:ext cx="1199944" cy="276999"/>
              </a:xfrm>
              <a:prstGeom prst="rect">
                <a:avLst/>
              </a:prstGeom>
              <a:blipFill>
                <a:blip r:embed="rId7"/>
                <a:stretch>
                  <a:fillRect l="-2538" t="-4444" r="-7107" b="-377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95DEE67-C4FB-A8C0-A815-49DF2B8E2057}"/>
                  </a:ext>
                </a:extLst>
              </p:cNvPr>
              <p:cNvSpPr txBox="1"/>
              <p:nvPr/>
            </p:nvSpPr>
            <p:spPr>
              <a:xfrm>
                <a:off x="5381484" y="2819607"/>
                <a:ext cx="16227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=330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𝑚𝑚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95DEE67-C4FB-A8C0-A815-49DF2B8E2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1484" y="2819607"/>
                <a:ext cx="1622752" cy="276999"/>
              </a:xfrm>
              <a:prstGeom prst="rect">
                <a:avLst/>
              </a:prstGeom>
              <a:blipFill>
                <a:blip r:embed="rId8"/>
                <a:stretch>
                  <a:fillRect l="-1880" r="-1880" b="-1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C5771B-7A5B-6E87-C0BA-66FC2EC3D3D2}"/>
                  </a:ext>
                </a:extLst>
              </p:cNvPr>
              <p:cNvSpPr txBox="1"/>
              <p:nvPr/>
            </p:nvSpPr>
            <p:spPr>
              <a:xfrm>
                <a:off x="4146827" y="3281934"/>
                <a:ext cx="2610589" cy="4406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16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[−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𝐿</m:t>
                        </m:r>
                      </m:num>
                      <m:den>
                        <m:r>
                          <a:rPr lang="en-US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sz="16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=3.5 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BC5771B-7A5B-6E87-C0BA-66FC2EC3D3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46827" y="3281934"/>
                <a:ext cx="2610589" cy="440633"/>
              </a:xfrm>
              <a:prstGeom prst="rect">
                <a:avLst/>
              </a:prstGeom>
              <a:blipFill>
                <a:blip r:embed="rId9"/>
                <a:stretch>
                  <a:fillRect b="-109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E132C74-2B2C-ED8D-6A52-4391A100D306}"/>
                  </a:ext>
                </a:extLst>
              </p:cNvPr>
              <p:cNvSpPr txBox="1"/>
              <p:nvPr/>
            </p:nvSpPr>
            <p:spPr>
              <a:xfrm>
                <a:off x="1993392" y="4957761"/>
                <a:ext cx="10189464" cy="3385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≡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sub>
                      <m:sup/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the field points and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sSubSup>
                      <m:sSubSup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𝑧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𝑗</m:t>
                        </m:r>
                      </m:sub>
                      <m:sup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dirty="0"/>
                  <a:t> are the positions of the coils</a:t>
                </a:r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E132C74-2B2C-ED8D-6A52-4391A100D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3392" y="4957761"/>
                <a:ext cx="10189464" cy="338554"/>
              </a:xfrm>
              <a:prstGeom prst="rect">
                <a:avLst/>
              </a:prstGeom>
              <a:blipFill>
                <a:blip r:embed="rId10"/>
                <a:stretch>
                  <a:fillRect l="-778" t="-12500" b="-339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B54C6C4-390D-F930-33FC-7DCCC310C65C}"/>
                  </a:ext>
                </a:extLst>
              </p:cNvPr>
              <p:cNvSpPr txBox="1"/>
              <p:nvPr/>
            </p:nvSpPr>
            <p:spPr>
              <a:xfrm>
                <a:off x="3739736" y="5607379"/>
                <a:ext cx="112780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𝑴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𝜖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ℝ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𝑛</m:t>
                          </m:r>
                        </m:sup>
                      </m:sSup>
                    </m:oMath>
                  </m:oMathPara>
                </a14:m>
                <a:endParaRPr lang="en-US" b="0" dirty="0">
                  <a:ea typeface="Cambria Math" panose="02040503050406030204" pitchFamily="18" charset="0"/>
                </a:endParaRP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B54C6C4-390D-F930-33FC-7DCCC310C6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39736" y="5607379"/>
                <a:ext cx="1127809" cy="553998"/>
              </a:xfrm>
              <a:prstGeom prst="rect">
                <a:avLst/>
              </a:prstGeom>
              <a:blipFill>
                <a:blip r:embed="rId11"/>
                <a:stretch>
                  <a:fillRect l="-27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843025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2B81D-7167-12C4-B15E-B63E43CD01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D82ED7-6C45-3601-B673-5E32654EF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74BC6-09C9-4ED8-ADF6-087D6F25D5BC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70657B-BF00-8FC2-E195-130FD9028DFC}"/>
                  </a:ext>
                </a:extLst>
              </p:cNvPr>
              <p:cNvSpPr txBox="1"/>
              <p:nvPr/>
            </p:nvSpPr>
            <p:spPr>
              <a:xfrm>
                <a:off x="966182" y="675420"/>
                <a:ext cx="10384536" cy="17580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 startAt="4"/>
                </a:pPr>
                <a:r>
                  <a:rPr lang="en-US" dirty="0"/>
                  <a:t>Pose the regularized least-squares problem</a:t>
                </a:r>
              </a:p>
              <a:p>
                <a:pPr lvl="1"/>
                <a:r>
                  <a:rPr lang="en-US" dirty="0"/>
                  <a:t>	 * optional weights can be used: </a:t>
                </a:r>
              </a:p>
              <a:p>
                <a:pPr lvl="1"/>
                <a:r>
                  <a:rPr lang="en-US" dirty="0"/>
                  <a:t>	 * solve: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𝑰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min</m:t>
                        </m:r>
                      </m:fName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𝑴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∗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𝑰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US" b="1" i="1" smtClean="0">
                                    <a:latin typeface="Cambria Math" panose="02040503050406030204" pitchFamily="18" charset="0"/>
                                  </a:rPr>
                                  <m:t>𝒃</m:t>
                                </m:r>
                              </m:e>
                            </m:d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)+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sSupPr>
                            <m:ctrlPr>
                              <a:rPr lang="en-US" b="1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𝑰</m:t>
                            </m:r>
                          </m:e>
                          <m:sup>
                            <m:r>
                              <a:rPr lang="en-US" b="1" i="1" smtClean="0">
                                <a:latin typeface="Cambria Math" panose="02040503050406030204" pitchFamily="18" charset="0"/>
                              </a:rPr>
                              <m:t>𝑻</m:t>
                            </m:r>
                          </m:sup>
                        </m:sSup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𝑰</m:t>
                        </m:r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	 *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trades off field accuracy vs. current size and suppresses unstable modes</a:t>
                </a:r>
              </a:p>
              <a:p>
                <a:r>
                  <a:rPr lang="en-US" dirty="0"/>
                  <a:t>	 * In a variation of this you could also have another term that suppresses derivatives to counter</a:t>
                </a:r>
              </a:p>
              <a:p>
                <a:r>
                  <a:rPr lang="en-US" dirty="0"/>
                  <a:t>	   oscillating currents (</a:t>
                </a:r>
                <a:r>
                  <a:rPr lang="en-US" dirty="0" err="1"/>
                  <a:t>iminuit</a:t>
                </a:r>
                <a:r>
                  <a:rPr lang="en-US" dirty="0"/>
                  <a:t>; Dr Slocum’s code)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A70657B-BF00-8FC2-E195-130FD9028D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182" y="675420"/>
                <a:ext cx="10384536" cy="1758045"/>
              </a:xfrm>
              <a:prstGeom prst="rect">
                <a:avLst/>
              </a:prstGeom>
              <a:blipFill>
                <a:blip r:embed="rId2"/>
                <a:stretch>
                  <a:fillRect l="-469" t="-2083" b="-4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A4DB44-CB26-3DA2-03A6-9B2DC7080507}"/>
                  </a:ext>
                </a:extLst>
              </p:cNvPr>
              <p:cNvSpPr txBox="1"/>
              <p:nvPr/>
            </p:nvSpPr>
            <p:spPr>
              <a:xfrm>
                <a:off x="966182" y="2556191"/>
                <a:ext cx="10384536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5.  Solve Singular Value Decomposition (SVD)</a:t>
                </a:r>
              </a:p>
              <a:p>
                <a:r>
                  <a:rPr lang="en-US" dirty="0"/>
                  <a:t>	* This is not required but it helps to see modes and suppress the ones which cause oscillations       </a:t>
                </a:r>
              </a:p>
              <a:p>
                <a:r>
                  <a:rPr lang="en-US" dirty="0"/>
                  <a:t>	    currents</a:t>
                </a:r>
              </a:p>
              <a:p>
                <a:r>
                  <a:rPr lang="en-US" dirty="0"/>
                  <a:t>	* Form the weighted system: </a:t>
                </a:r>
              </a:p>
              <a:p>
                <a:r>
                  <a:rPr lang="en-US" dirty="0"/>
                  <a:t>	* compute SVD: </a:t>
                </a:r>
              </a:p>
              <a:p>
                <a:r>
                  <a:rPr lang="en-US" dirty="0"/>
                  <a:t>	* Tikhonov solution is obtained by solving: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	</a:t>
                </a:r>
              </a:p>
              <a:p>
                <a:r>
                  <a:rPr lang="en-US" dirty="0"/>
                  <a:t>	* high frequency modes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≪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are suppressed; these are ones causing oscillations</a:t>
                </a:r>
              </a:p>
              <a:p>
                <a:r>
                  <a:rPr lang="en-US" dirty="0"/>
                  <a:t>                                                                                         </a:t>
                </a:r>
              </a:p>
              <a:p>
                <a:r>
                  <a:rPr lang="en-US" dirty="0"/>
                  <a:t>                                                                           </a:t>
                </a:r>
              </a:p>
              <a:p>
                <a:r>
                  <a:rPr lang="en-US" dirty="0"/>
                  <a:t>	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8A4DB44-CB26-3DA2-03A6-9B2DC70805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182" y="2556191"/>
                <a:ext cx="10384536" cy="3693319"/>
              </a:xfrm>
              <a:prstGeom prst="rect">
                <a:avLst/>
              </a:prstGeom>
              <a:blipFill>
                <a:blip r:embed="rId3"/>
                <a:stretch>
                  <a:fillRect l="-469" t="-8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5158F8A5-40E0-6B80-6A04-23CFA5F8A6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5168" y="3439460"/>
            <a:ext cx="2154023" cy="20544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7A35A9D-CD32-1B7E-3652-B052D89495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24097" y="3703126"/>
            <a:ext cx="4457459" cy="24630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3D395A6-279A-D2C9-DF77-1E693D4FF65C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21734" y="4329698"/>
            <a:ext cx="2440888" cy="65360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EE9564-AA1B-C325-7F2C-DAC1C445C74A}"/>
                  </a:ext>
                </a:extLst>
              </p:cNvPr>
              <p:cNvSpPr txBox="1"/>
              <p:nvPr/>
            </p:nvSpPr>
            <p:spPr>
              <a:xfrm>
                <a:off x="5168826" y="1006439"/>
                <a:ext cx="154670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𝑾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𝑑𝑖𝑎𝑔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A6EE9564-AA1B-C325-7F2C-DAC1C445C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8826" y="1006439"/>
                <a:ext cx="1546705" cy="276999"/>
              </a:xfrm>
              <a:prstGeom prst="rect">
                <a:avLst/>
              </a:prstGeom>
              <a:blipFill>
                <a:blip r:embed="rId7"/>
                <a:stretch>
                  <a:fillRect l="-3150" t="-2174" b="-326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CA9CE23-7630-678A-6923-5F2567AE944A}"/>
              </a:ext>
            </a:extLst>
          </p:cNvPr>
          <p:cNvCxnSpPr/>
          <p:nvPr/>
        </p:nvCxnSpPr>
        <p:spPr>
          <a:xfrm>
            <a:off x="7342632" y="4069080"/>
            <a:ext cx="0" cy="91422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6E9E2E-5166-7739-8099-66EC4F21F8A5}"/>
                  </a:ext>
                </a:extLst>
              </p:cNvPr>
              <p:cNvSpPr txBox="1"/>
              <p:nvPr/>
            </p:nvSpPr>
            <p:spPr>
              <a:xfrm>
                <a:off x="8755296" y="4398292"/>
                <a:ext cx="35357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𝜆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𝑀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p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</m:d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26E9E2E-5166-7739-8099-66EC4F21F8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5296" y="4398292"/>
                <a:ext cx="3535714" cy="36933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DA4D6D77-DA81-69E3-42D4-957DF21F1BA2}"/>
              </a:ext>
            </a:extLst>
          </p:cNvPr>
          <p:cNvSpPr txBox="1"/>
          <p:nvPr/>
        </p:nvSpPr>
        <p:spPr>
          <a:xfrm>
            <a:off x="7751064" y="4402850"/>
            <a:ext cx="1719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Without SVD: </a:t>
            </a:r>
          </a:p>
        </p:txBody>
      </p:sp>
    </p:spTree>
    <p:extLst>
      <p:ext uri="{BB962C8B-B14F-4D97-AF65-F5344CB8AC3E}">
        <p14:creationId xmlns:p14="http://schemas.microsoft.com/office/powerpoint/2010/main" val="281119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EFA5C-D45A-DE92-75F1-21D3E3647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63EFA-2BB3-A332-C202-052D5FA82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474BC6-09C9-4ED8-ADF6-087D6F25D5BC}" type="slidenum">
              <a:rPr lang="en-US" smtClean="0"/>
              <a:t>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B5EC83-F2A4-E741-C831-BBF5C3E5AC49}"/>
                  </a:ext>
                </a:extLst>
              </p:cNvPr>
              <p:cNvSpPr txBox="1"/>
              <p:nvPr/>
            </p:nvSpPr>
            <p:spPr>
              <a:xfrm>
                <a:off x="966182" y="695026"/>
                <a:ext cx="1038453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 startAt="6"/>
                </a:pPr>
                <a:r>
                  <a:rPr lang="en-US" dirty="0"/>
                  <a:t>Pick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endParaRPr lang="en-US" b="0" dirty="0"/>
              </a:p>
              <a:p>
                <a:r>
                  <a:rPr lang="en-US" dirty="0"/>
                  <a:t>	 * Do a 1D sweep over lambda (log-spaced)</a:t>
                </a:r>
              </a:p>
              <a:p>
                <a:r>
                  <a:rPr lang="en-US" dirty="0"/>
                  <a:t>	 * For each lambda  compute: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	 * choose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as a compromise to produce acceptable current oscillations and field uniformity</a:t>
                </a: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7B5EC83-F2A4-E741-C831-BBF5C3E5AC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6182" y="695026"/>
                <a:ext cx="10384536" cy="1754326"/>
              </a:xfrm>
              <a:prstGeom prst="rect">
                <a:avLst/>
              </a:prstGeom>
              <a:blipFill>
                <a:blip r:embed="rId2"/>
                <a:stretch>
                  <a:fillRect l="-469" t="-1736" b="-45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6">
            <a:extLst>
              <a:ext uri="{FF2B5EF4-FFF2-40B4-BE49-F238E27FC236}">
                <a16:creationId xmlns:a16="http://schemas.microsoft.com/office/drawing/2014/main" id="{7490F194-CEB6-2ACB-5365-F0775DB7B8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73" b="23558"/>
          <a:stretch>
            <a:fillRect/>
          </a:stretch>
        </p:blipFill>
        <p:spPr>
          <a:xfrm>
            <a:off x="3804954" y="1643002"/>
            <a:ext cx="4582092" cy="4123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B75AEEA-59CB-6111-D643-F777396972E9}"/>
                  </a:ext>
                </a:extLst>
              </p:cNvPr>
              <p:cNvSpPr txBox="1"/>
              <p:nvPr/>
            </p:nvSpPr>
            <p:spPr>
              <a:xfrm>
                <a:off x="903732" y="3100050"/>
                <a:ext cx="10384536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7. Validate (report ppm uniformity on the axes)</a:t>
                </a:r>
              </a:p>
              <a:p>
                <a:pPr lvl="1"/>
                <a:r>
                  <a:rPr lang="en-US" dirty="0"/>
                  <a:t>	 * After choosing lambda, evaluate the final error in ppm</a:t>
                </a:r>
              </a:p>
              <a:p>
                <a:pPr lvl="1"/>
                <a:endParaRPr lang="en-US" dirty="0"/>
              </a:p>
              <a:p>
                <a:pPr lvl="1"/>
                <a:r>
                  <a:rPr lang="en-US" dirty="0"/>
                  <a:t>	* Report max/RMS ppm on the two axes you constrained: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 </m:t>
                    </m:r>
                  </m:oMath>
                </a14:m>
                <a:r>
                  <a:rPr lang="en-US" dirty="0"/>
                  <a:t>(z-scan)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(r –scan to 3.30 m)</a:t>
                </a:r>
              </a:p>
              <a:p>
                <a:pPr lvl="1"/>
                <a:r>
                  <a:rPr lang="en-US" dirty="0"/>
                  <a:t>	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B75AEEA-59CB-6111-D643-F777396972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732" y="3100050"/>
                <a:ext cx="10384536" cy="1754326"/>
              </a:xfrm>
              <a:prstGeom prst="rect">
                <a:avLst/>
              </a:prstGeom>
              <a:blipFill>
                <a:blip r:embed="rId4"/>
                <a:stretch>
                  <a:fillRect l="-469" t="-2091" r="-1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" name="Picture 15">
            <a:extLst>
              <a:ext uri="{FF2B5EF4-FFF2-40B4-BE49-F238E27FC236}">
                <a16:creationId xmlns:a16="http://schemas.microsoft.com/office/drawing/2014/main" id="{6084AC80-B435-E492-1858-CEBB7E5D60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9244" y="3291163"/>
            <a:ext cx="2503932" cy="541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5436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83162AA1D8D7440A9EE7CE5D66741A3" ma:contentTypeVersion="18" ma:contentTypeDescription="Create a new document." ma:contentTypeScope="" ma:versionID="a1660000cb8057b1ffd9d79b14ca8d3b">
  <xsd:schema xmlns:xsd="http://www.w3.org/2001/XMLSchema" xmlns:xs="http://www.w3.org/2001/XMLSchema" xmlns:p="http://schemas.microsoft.com/office/2006/metadata/properties" xmlns:ns3="1093dcce-eacf-4210-9bae-8e355fde9a29" xmlns:ns4="01267c0b-82ea-4d0e-ac46-712083006ca0" targetNamespace="http://schemas.microsoft.com/office/2006/metadata/properties" ma:root="true" ma:fieldsID="d9bfda82cb01bc28c5034ca0b6094046" ns3:_="" ns4:_="">
    <xsd:import namespace="1093dcce-eacf-4210-9bae-8e355fde9a29"/>
    <xsd:import namespace="01267c0b-82ea-4d0e-ac46-712083006ca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93dcce-eacf-4210-9bae-8e355fde9a2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ystemTags" ma:index="2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5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1267c0b-82ea-4d0e-ac46-712083006ca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093dcce-eacf-4210-9bae-8e355fde9a29" xsi:nil="true"/>
  </documentManagement>
</p:properties>
</file>

<file path=customXml/itemProps1.xml><?xml version="1.0" encoding="utf-8"?>
<ds:datastoreItem xmlns:ds="http://schemas.openxmlformats.org/officeDocument/2006/customXml" ds:itemID="{FE5C138F-3254-490D-83BB-9F91A828E8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93dcce-eacf-4210-9bae-8e355fde9a29"/>
    <ds:schemaRef ds:uri="01267c0b-82ea-4d0e-ac46-712083006ca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1035CA-896A-4EC3-9433-710A8795059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17EBF9-92D9-47A6-A23C-36D26A127198}">
  <ds:schemaRefs>
    <ds:schemaRef ds:uri="http://purl.org/dc/elements/1.1/"/>
    <ds:schemaRef ds:uri="1093dcce-eacf-4210-9bae-8e355fde9a29"/>
    <ds:schemaRef ds:uri="http://purl.org/dc/terms/"/>
    <ds:schemaRef ds:uri="01267c0b-82ea-4d0e-ac46-712083006ca0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460</Words>
  <Application>Microsoft Office PowerPoint</Application>
  <PresentationFormat>Widescreen</PresentationFormat>
  <Paragraphs>61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Cambria Math</vt:lpstr>
      <vt:lpstr>Office Theme</vt:lpstr>
      <vt:lpstr>Fitting Procedure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Khan, Mubasshir</dc:creator>
  <cp:lastModifiedBy>Khan, Mubasshir</cp:lastModifiedBy>
  <cp:revision>1</cp:revision>
  <dcterms:created xsi:type="dcterms:W3CDTF">2026-05-17T18:28:45Z</dcterms:created>
  <dcterms:modified xsi:type="dcterms:W3CDTF">2026-05-17T18:34:37Z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0x010100D83162AA1D8D7440A9EE7CE5D66741A3</vt:lpwstr>
  </property>
</Properties>
</file>