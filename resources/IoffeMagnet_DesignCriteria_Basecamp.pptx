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97" r:id="rId2"/>
    <p:sldMasterId id="2147483728" r:id="rId3"/>
    <p:sldMasterId id="2147483759" r:id="rId4"/>
  </p:sldMasterIdLst>
  <p:notesMasterIdLst>
    <p:notesMasterId r:id="rId22"/>
  </p:notesMasterIdLst>
  <p:handoutMasterIdLst>
    <p:handoutMasterId r:id="rId23"/>
  </p:handoutMasterIdLst>
  <p:sldIdLst>
    <p:sldId id="258" r:id="rId5"/>
    <p:sldId id="346" r:id="rId6"/>
    <p:sldId id="384" r:id="rId7"/>
    <p:sldId id="388" r:id="rId8"/>
    <p:sldId id="394" r:id="rId9"/>
    <p:sldId id="390" r:id="rId10"/>
    <p:sldId id="391" r:id="rId11"/>
    <p:sldId id="392" r:id="rId12"/>
    <p:sldId id="393" r:id="rId13"/>
    <p:sldId id="389" r:id="rId14"/>
    <p:sldId id="395" r:id="rId15"/>
    <p:sldId id="398" r:id="rId16"/>
    <p:sldId id="400" r:id="rId17"/>
    <p:sldId id="401" r:id="rId18"/>
    <p:sldId id="402" r:id="rId19"/>
    <p:sldId id="403" r:id="rId20"/>
    <p:sldId id="3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2D308C-550B-426C-AFB8-05C669FD56B0}">
          <p14:sldIdLst>
            <p14:sldId id="258"/>
            <p14:sldId id="346"/>
            <p14:sldId id="384"/>
            <p14:sldId id="388"/>
            <p14:sldId id="394"/>
            <p14:sldId id="390"/>
            <p14:sldId id="391"/>
            <p14:sldId id="392"/>
            <p14:sldId id="393"/>
            <p14:sldId id="389"/>
            <p14:sldId id="395"/>
            <p14:sldId id="398"/>
            <p14:sldId id="400"/>
            <p14:sldId id="401"/>
            <p14:sldId id="402"/>
            <p14:sldId id="403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8E01"/>
    <a:srgbClr val="E4FBBB"/>
    <a:srgbClr val="DAF9A1"/>
    <a:srgbClr val="C7F9C8"/>
    <a:srgbClr val="129C15"/>
    <a:srgbClr val="CBF67E"/>
    <a:srgbClr val="6CA30B"/>
    <a:srgbClr val="F6E0C0"/>
    <a:srgbClr val="F0C990"/>
    <a:srgbClr val="B9B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84882" autoAdjust="0"/>
  </p:normalViewPr>
  <p:slideViewPr>
    <p:cSldViewPr snapToGrid="0">
      <p:cViewPr varScale="1">
        <p:scale>
          <a:sx n="84" d="100"/>
          <a:sy n="84" d="100"/>
        </p:scale>
        <p:origin x="90" y="6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4072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101180-94AE-A148-0874-34EE0A31BC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0E86C-4C4E-1FDA-0154-15C7F2DABF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0CE46-E44A-3247-A43C-11027568704B}" type="datetimeFigureOut">
              <a:rPr lang="en-US" smtClean="0">
                <a:latin typeface="Arial" panose="020B0604020202020204" pitchFamily="34" charset="0"/>
              </a:rPr>
              <a:t>5/28/2026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074C8-EEB7-E76E-099A-D0FB5B9D5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E9CA0-3796-0BD4-664E-618D04C165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831F2-AF4E-BB4C-A8EF-42238C76ABA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33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9D00-1CDF-434B-8F0A-8ED0A64E848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EC296-AA85-584E-8224-F9A9CE703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77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character recommendations: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Contact info: 145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title: 38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Secondary title: 100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 all text fields with your relevant information.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61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Oakridge had success with &gt;6’ diameter indium seals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43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Oakridge had success with &gt;6’ diameter indium seals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4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Main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590FEB9-4E20-F153-F0DA-61072304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068" y="223820"/>
            <a:ext cx="3625882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6434C78-E82D-74AC-6F98-18C5A3C443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5259085-837B-D02B-1F74-EC07AE53C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59786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Sub Brand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8943BF9-9852-B571-CB8A-414BA24F41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674D496-5B86-01B6-808A-809100FCC2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0963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Endorsed Brand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52FD86-C603-1494-52EF-5BEF9CD10D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4661" y="324503"/>
            <a:ext cx="954807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E296DD-1B13-D98E-27AF-005F248EE8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B005292-39D5-523C-C41E-70D3546AE96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4460080-8332-537E-67D0-445106FEC6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4635A93-6564-ADEF-6048-9E8C1D0BE0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46006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–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66F76-B9BE-CDE9-91E9-A22BFEBB48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F7D57-EF37-A702-AA25-5345A9CA56A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64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66F76-B9BE-CDE9-91E9-A22BFEBB48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78DDD3-3229-C4C2-050D-B6AFCF902435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121F57E-7A3D-523B-1263-2147287CBB0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6CD48A0-01A4-BD36-D9AD-53422DD1D5A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</p:spTree>
    <p:extLst>
      <p:ext uri="{BB962C8B-B14F-4D97-AF65-F5344CB8AC3E}">
        <p14:creationId xmlns:p14="http://schemas.microsoft.com/office/powerpoint/2010/main" val="56134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3" y="223660"/>
            <a:ext cx="5533766" cy="810991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84EB4-2DDE-A84F-F145-EF9B876934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3085" y="250554"/>
            <a:ext cx="2533403" cy="5868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  <a:defRPr sz="1400" b="0" i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Column Text – Max 350 characters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A3824-6F15-FD86-D30D-55E8798F55A1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116664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D08E89-767A-785D-CEE4-D77A66532F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589" y="1767901"/>
            <a:ext cx="5539170" cy="435133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 b="1" i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Large Slide Description Text – Max 350 characters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7D94A36-DCC8-9687-455C-DF3D3D6A1B1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16291" y="250554"/>
            <a:ext cx="2533403" cy="5868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  <a:defRPr sz="140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Column Text – Max 350 characters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19908-9DA8-0589-2D4C-7B455E1CBD18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41252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Shor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3" y="223660"/>
            <a:ext cx="5533766" cy="810991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116664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D08E89-767A-785D-CEE4-D77A66532F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589" y="1767901"/>
            <a:ext cx="5539170" cy="435133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 b="1" i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Large Slide Description Text – Max 350 characters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452277A-0FA6-549A-322C-412B23567C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photo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2E874-5A2C-DFB4-74AB-49B738846856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99168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Lon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116664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D08E89-767A-785D-CEE4-D77A66532F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589" y="1767901"/>
            <a:ext cx="4921068" cy="4351333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 b="0" i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Small Slide Description Text – Max 520 characters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E043900-9E70-F92C-3F55-ABECBCF03C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photo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2FFC7-EE23-EAA4-A89F-FA7F579AC4CE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5E1B16-877C-A8E7-A098-DE2877C2B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3" y="223660"/>
            <a:ext cx="5533766" cy="810991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</p:spTree>
    <p:extLst>
      <p:ext uri="{BB962C8B-B14F-4D97-AF65-F5344CB8AC3E}">
        <p14:creationId xmlns:p14="http://schemas.microsoft.com/office/powerpoint/2010/main" val="214543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D3F3A2D-940D-D013-017B-63694756DBC9}"/>
              </a:ext>
            </a:extLst>
          </p:cNvPr>
          <p:cNvSpPr/>
          <p:nvPr userDrawn="1"/>
        </p:nvSpPr>
        <p:spPr>
          <a:xfrm>
            <a:off x="3367314" y="330989"/>
            <a:ext cx="8506097" cy="57586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29D3A-3F37-9592-DD8A-41ABEC44FA2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2FD8EF3-A812-D37C-5E6C-3D89CAAE6BB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8589" y="229389"/>
            <a:ext cx="2439125" cy="5858885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400" b="0" i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Slide Description Text – Max 400 characters</a:t>
            </a:r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AD7B6E31-BB63-BABB-3A25-BC1539FC82AE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3615559" y="613074"/>
            <a:ext cx="8029903" cy="5201130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chart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15F6BD-8143-5A5D-9B45-2A1A599431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24603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EA6A74-8F34-3AC8-D8D7-B16E4DFE7340}"/>
              </a:ext>
            </a:extLst>
          </p:cNvPr>
          <p:cNvSpPr/>
          <p:nvPr userDrawn="1"/>
        </p:nvSpPr>
        <p:spPr>
          <a:xfrm>
            <a:off x="6197848" y="1169003"/>
            <a:ext cx="5666405" cy="49206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3F3A2D-940D-D013-017B-63694756DBC9}"/>
              </a:ext>
            </a:extLst>
          </p:cNvPr>
          <p:cNvSpPr/>
          <p:nvPr userDrawn="1"/>
        </p:nvSpPr>
        <p:spPr>
          <a:xfrm>
            <a:off x="313481" y="1169003"/>
            <a:ext cx="5666405" cy="49206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29D3A-3F37-9592-DD8A-41ABEC44FA2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2FD8EF3-A812-D37C-5E6C-3D89CAAE6BB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8589" y="229389"/>
            <a:ext cx="5661297" cy="7866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b="0" i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Slide Description – Max 200 characters</a:t>
            </a:r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AD7B6E31-BB63-BABB-3A25-BC1539FC82AE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546538" y="1414732"/>
            <a:ext cx="5202621" cy="4485736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chart</a:t>
            </a:r>
          </a:p>
        </p:txBody>
      </p:sp>
      <p:sp>
        <p:nvSpPr>
          <p:cNvPr id="6" name="Chart Placeholder 14">
            <a:extLst>
              <a:ext uri="{FF2B5EF4-FFF2-40B4-BE49-F238E27FC236}">
                <a16:creationId xmlns:a16="http://schemas.microsoft.com/office/drawing/2014/main" id="{865B7184-5EEB-2ED7-8DF8-7BA53322A2D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432331" y="1414732"/>
            <a:ext cx="5213131" cy="4485736"/>
          </a:xfrm>
        </p:spPr>
        <p:txBody>
          <a:bodyPr/>
          <a:lstStyle>
            <a:lvl1pPr marL="0" indent="0" algn="ctr">
              <a:buNone/>
              <a:defRPr b="0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chart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BF7291-D851-C415-1B3D-624435C9B98C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94805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3" y="223660"/>
            <a:ext cx="3275550" cy="810991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A3824-6F15-FD86-D30D-55E8798F55A1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116664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54A9D41-333E-5D1B-DBDD-1B79243736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23994" y="1409700"/>
            <a:ext cx="11345492" cy="476543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defRPr sz="2100">
                <a:latin typeface="+mj-lt"/>
                <a:cs typeface="Arial" panose="020B0604020202020204" pitchFamily="34" charset="0"/>
              </a:defRPr>
            </a:lvl1pPr>
            <a:lvl2pPr>
              <a:spcBef>
                <a:spcPts val="1000"/>
              </a:spcBef>
              <a:spcAft>
                <a:spcPts val="1200"/>
              </a:spcAft>
              <a:defRPr/>
            </a:lvl2pPr>
            <a:lvl3pPr>
              <a:spcBef>
                <a:spcPts val="1000"/>
              </a:spcBef>
              <a:spcAft>
                <a:spcPts val="1200"/>
              </a:spcAft>
              <a:defRPr/>
            </a:lvl3pPr>
            <a:lvl4pPr>
              <a:spcBef>
                <a:spcPts val="1000"/>
              </a:spcBef>
              <a:spcAft>
                <a:spcPts val="1200"/>
              </a:spcAft>
              <a:defRPr/>
            </a:lvl4pPr>
            <a:lvl5pPr>
              <a:spcBef>
                <a:spcPts val="100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Slide Text – Max 670 characters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00CB3-43FC-4FB5-41C5-FEB87A7497D8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248206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2" y="223659"/>
            <a:ext cx="5693646" cy="1535947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A3824-6F15-FD86-D30D-55E8798F55A1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1224CB-8AE7-5506-BC70-E5FDF520901B}"/>
              </a:ext>
            </a:extLst>
          </p:cNvPr>
          <p:cNvCxnSpPr>
            <a:cxnSpLocks/>
          </p:cNvCxnSpPr>
          <p:nvPr userDrawn="1"/>
        </p:nvCxnSpPr>
        <p:spPr>
          <a:xfrm>
            <a:off x="4215651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CBC650-4046-BB07-FC04-68F697FAE75A}"/>
              </a:ext>
            </a:extLst>
          </p:cNvPr>
          <p:cNvCxnSpPr>
            <a:cxnSpLocks/>
          </p:cNvCxnSpPr>
          <p:nvPr userDrawn="1"/>
        </p:nvCxnSpPr>
        <p:spPr>
          <a:xfrm>
            <a:off x="8129315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C3E86FF-8433-E5B3-1EAC-2D8E9090A8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738" y="2563812"/>
            <a:ext cx="3702442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– Max 30 characters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3C736-533A-CDFB-EE0C-DF26725F96C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06238" y="2871088"/>
            <a:ext cx="371128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+mj-lt"/>
                <a:cs typeface="Arial" panose="020B0604020202020204" pitchFamily="34" charset="0"/>
              </a:defRPr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300 characters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58B353C-DB68-EF1F-F163-EB9DFDAD51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15651" y="2563812"/>
            <a:ext cx="3702442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Title – Max 30 characters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9A79272-88A2-3A79-D64E-03B428C27E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315" y="2563812"/>
            <a:ext cx="3702442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Title – Max 30 characters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D9A22-F262-073A-EC7D-9B8E77522D6B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C0B2F11-2A90-17C6-BD9D-070C96809204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216086" y="2871088"/>
            <a:ext cx="371128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+mj-lt"/>
                <a:cs typeface="Arial" panose="020B0604020202020204" pitchFamily="34" charset="0"/>
              </a:defRPr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300 characters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632AA01-9487-575A-CB7F-E3BE74395506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25934" y="2871088"/>
            <a:ext cx="371128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+mj-lt"/>
                <a:cs typeface="Arial" panose="020B0604020202020204" pitchFamily="34" charset="0"/>
              </a:defRPr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300 characters</a:t>
            </a:r>
          </a:p>
        </p:txBody>
      </p:sp>
    </p:spTree>
    <p:extLst>
      <p:ext uri="{BB962C8B-B14F-4D97-AF65-F5344CB8AC3E}">
        <p14:creationId xmlns:p14="http://schemas.microsoft.com/office/powerpoint/2010/main" val="4154411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2" y="223659"/>
            <a:ext cx="5651019" cy="1535947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A3824-6F15-FD86-D30D-55E8798F55A1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CBC650-4046-BB07-FC04-68F697FAE75A}"/>
              </a:ext>
            </a:extLst>
          </p:cNvPr>
          <p:cNvCxnSpPr>
            <a:cxnSpLocks/>
          </p:cNvCxnSpPr>
          <p:nvPr userDrawn="1"/>
        </p:nvCxnSpPr>
        <p:spPr>
          <a:xfrm>
            <a:off x="6175383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0FFCC-D3A6-B686-34F4-1FADB1D74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739" y="2557716"/>
            <a:ext cx="5219948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– Max 30 characters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982AEF7-C2BA-9FEF-0CF0-7B027C7CC43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06238" y="2871088"/>
            <a:ext cx="523241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+mj-lt"/>
                <a:cs typeface="Arial" panose="020B0604020202020204" pitchFamily="34" charset="0"/>
              </a:defRPr>
            </a:lvl1pPr>
            <a:lvl2pPr marL="457200" indent="0">
              <a:spcAft>
                <a:spcPts val="1200"/>
              </a:spcAft>
              <a:buNone/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400 characters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5D8F256-1603-EA51-EC29-6AC89BFE3B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8700" y="2557716"/>
            <a:ext cx="5219948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– Max 30 characters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A9627-70F3-E4EA-9DB0-C5659E8EEC75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1F1B01F-CF22-B057-0BF5-446BA4249F5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171011" y="2871088"/>
            <a:ext cx="523241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+mj-lt"/>
                <a:cs typeface="Arial" panose="020B0604020202020204" pitchFamily="34" charset="0"/>
              </a:defRPr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400 characters</a:t>
            </a:r>
          </a:p>
        </p:txBody>
      </p:sp>
    </p:spTree>
    <p:extLst>
      <p:ext uri="{BB962C8B-B14F-4D97-AF65-F5344CB8AC3E}">
        <p14:creationId xmlns:p14="http://schemas.microsoft.com/office/powerpoint/2010/main" val="1007079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9B8B8D-1886-5D3E-110B-8F9D0524A6E4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6682A-1773-7EFB-A2C5-FF85A89E4C7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472456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738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Main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590FEB9-4E20-F153-F0DA-61072304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068" y="223820"/>
            <a:ext cx="3625882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E93A6C7-07DE-698F-060B-C83FDBD33F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EE31CC5-91BA-4B73-FEA6-07D5E4CB8E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1821180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Sub Brand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B413E3A-2E4A-DE58-276C-6B427D023F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CB49D4D-2B91-739E-00A0-5F800821C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987044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Endorsed Brand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52FD86-C603-1494-52EF-5BEF9CD10D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4661" y="324503"/>
            <a:ext cx="954807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B0C046-6DA5-4B0C-0AB1-90A744A044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F5AD4B-0791-DEE8-9D08-538D06E7FC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79FED9-372D-CDF4-35F3-8039430CF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7F56AD1-3E57-D8EA-FDEA-B77EBD4C12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3591502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1C091-0B22-B285-BB16-D028139BF7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C5C90-F626-74D1-6978-0AFECB0A6C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rgbClr val="8B959E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1205578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27A6D-B8C9-FB9F-2B11-8F81E2A3F185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DE577B-C053-FD54-7878-7E047AB47A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314C7BA-4323-0DF0-90BD-75906C1FA4F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EB1D27-9A5C-6608-CBF1-CF65A2D73169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97B1D5-6A79-308A-4DFA-19417315FC59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106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Main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C42A665-A21C-CD79-1D8D-1D99E29709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4072" y="223820"/>
            <a:ext cx="3625874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E3DD2C8-9293-3716-3D91-FA4E99B3E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58B4182-C52B-A65A-1CE0-5AB690F39A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963801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Sub Brand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6F7A042-B5C2-47EE-EA30-7D530FEB87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3D9C569-7DD9-5E60-DA78-EE65C44EC1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9519395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Endorsed Brand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740B29-5817-180D-DA83-AF9E2E4A6C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14662" y="324503"/>
            <a:ext cx="954805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4CA86-4E42-E866-42D9-1D6F2AB400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19F679-B7C4-C058-A61F-7DF2305A49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8F1D9BC-C03E-A5C3-9A5C-B18EAD5FCD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7CFB6D-A6F8-581D-1A02-329E06AEDB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2619111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1FF9F7-CD9B-3E67-501F-928CA31B6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4CFF7BF-C6F6-7E09-2F5D-FB8610A74FB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27970120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 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489839-2387-FFD3-DCFE-9ADA5528D14A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4A604-913B-0501-08AA-548D08103F54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CB095-270D-97ED-16C2-9B230B8F33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662D7A-7777-A5FD-DEE4-F88191949B5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D1EE371-28CD-F2A9-92A5-63313354842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9D7FB5-AEC1-D737-62D3-238D849B3862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423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Main, 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C42A665-A21C-CD79-1D8D-1D99E29709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4072" y="223820"/>
            <a:ext cx="3625874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27AB69D-B657-2F29-B566-3F6FF48EE3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56C3B82-2B99-94CF-A919-28DCA302A9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366805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Sub Brand, 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5C82065-D646-B727-19A1-F044C380B5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CA78149-8BF2-69CC-576D-BE0F9F68DD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379278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Endorsed Brand, White, 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740B29-5817-180D-DA83-AF9E2E4A6C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14662" y="324503"/>
            <a:ext cx="954805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4CA86-4E42-E866-42D9-1D6F2AB400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19F679-B7C4-C058-A61F-7DF2305A49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B69C17B-BB02-3108-D637-D723FE1BCC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F7F33E-7AE1-3D61-54E6-F3EAA25683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1052131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4C8FD2-B36E-4547-BA9B-A1118D478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259E7C-908B-A780-68F5-F2B1C81BE5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15041702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 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489839-2387-FFD3-DCFE-9ADA5528D14A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4A604-913B-0501-08AA-548D08103F54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1E197-5D52-1BEE-D008-06ED96E7B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B517E05-4DDD-0D01-734E-3DE7A861723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DC814A5-9BDD-158B-D8F6-CBAFB7B3680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E1E4DD-5602-9E88-2C02-25456206D622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49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277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1" r:id="rId4"/>
    <p:sldLayoutId id="2147483683" r:id="rId5"/>
    <p:sldLayoutId id="2147483650" r:id="rId6"/>
    <p:sldLayoutId id="2147483676" r:id="rId7"/>
    <p:sldLayoutId id="2147483677" r:id="rId8"/>
    <p:sldLayoutId id="2147483656" r:id="rId9"/>
    <p:sldLayoutId id="2147483678" r:id="rId10"/>
    <p:sldLayoutId id="2147483679" r:id="rId11"/>
    <p:sldLayoutId id="2147483681" r:id="rId12"/>
    <p:sldLayoutId id="2147483682" r:id="rId13"/>
    <p:sldLayoutId id="2147483655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8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71" r:id="rId4"/>
    <p:sldLayoutId id="214748368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1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73" r:id="rId4"/>
    <p:sldLayoutId id="214748368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5/28/2026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2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72" r:id="rId4"/>
    <p:sldLayoutId id="214748368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0E8B-7E53-8CB8-FFB3-52E009E56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958" y="1707922"/>
            <a:ext cx="9963805" cy="520907"/>
          </a:xfrm>
        </p:spPr>
        <p:txBody>
          <a:bodyPr/>
          <a:lstStyle/>
          <a:p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Ioffe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Magnet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73104-204B-73AF-4F22-23771C52E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 Criteria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2CAF3D-272D-376B-0CA9-3F7E305200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b" anchorCtr="0"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Risa Hocking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Research Engineer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F9D71E-3F41-AD06-C76E-E6A5650D6A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b" anchorCtr="0"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7076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A1BD18-12B7-5028-2F7D-C2DFB938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Ioffe</a:t>
            </a:r>
            <a:r>
              <a:rPr lang="en-US" dirty="0"/>
              <a:t> Overview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7296A5-872C-D96D-25BE-D12698A5C513}"/>
              </a:ext>
            </a:extLst>
          </p:cNvPr>
          <p:cNvSpPr/>
          <p:nvPr/>
        </p:nvSpPr>
        <p:spPr>
          <a:xfrm>
            <a:off x="869950" y="1572960"/>
            <a:ext cx="10610850" cy="2876550"/>
          </a:xfrm>
          <a:prstGeom prst="roundRect">
            <a:avLst/>
          </a:prstGeom>
          <a:solidFill>
            <a:srgbClr val="F6E0C0"/>
          </a:solidFill>
          <a:ln>
            <a:solidFill>
              <a:srgbClr val="F0C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02D65C-977E-21C9-B318-FD8785883D1C}"/>
              </a:ext>
            </a:extLst>
          </p:cNvPr>
          <p:cNvSpPr txBox="1"/>
          <p:nvPr/>
        </p:nvSpPr>
        <p:spPr>
          <a:xfrm>
            <a:off x="1108075" y="1811859"/>
            <a:ext cx="10134600" cy="22980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PURPOSE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Generate a magnetic field perpendicular to the walls of the cavity to prevent tritium recombination</a:t>
            </a:r>
          </a:p>
          <a:p>
            <a:pPr marL="640080" lvl="1" indent="-18288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Order of 10 </a:t>
            </a:r>
            <a:r>
              <a:rPr lang="en-US" sz="1600" dirty="0" err="1">
                <a:latin typeface="Helvetica" pitchFamily="2" charset="0"/>
              </a:rPr>
              <a:t>mT</a:t>
            </a:r>
            <a:r>
              <a:rPr lang="en-US" sz="1600" dirty="0">
                <a:latin typeface="Helvetica" pitchFamily="2" charset="0"/>
              </a:rPr>
              <a:t> magnitude</a:t>
            </a:r>
          </a:p>
          <a:p>
            <a:pPr marL="640080" lvl="1" indent="-18288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Decay as quickly as possible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Provide the cavity for CRES (consequence)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047070D-E0A0-1D71-A1F8-FD0F7EB31AB6}"/>
              </a:ext>
            </a:extLst>
          </p:cNvPr>
          <p:cNvSpPr/>
          <p:nvPr/>
        </p:nvSpPr>
        <p:spPr>
          <a:xfrm>
            <a:off x="869950" y="4793049"/>
            <a:ext cx="10610850" cy="12470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65DCDB-424D-8938-0081-5CBC1D87F3D2}"/>
              </a:ext>
            </a:extLst>
          </p:cNvPr>
          <p:cNvSpPr txBox="1"/>
          <p:nvPr/>
        </p:nvSpPr>
        <p:spPr>
          <a:xfrm>
            <a:off x="1108075" y="4960949"/>
            <a:ext cx="10134600" cy="7130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PROTOTYPE DIFFERENCES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Maximum length of 2.5 m</a:t>
            </a:r>
          </a:p>
        </p:txBody>
      </p:sp>
    </p:spTree>
    <p:extLst>
      <p:ext uri="{BB962C8B-B14F-4D97-AF65-F5344CB8AC3E}">
        <p14:creationId xmlns:p14="http://schemas.microsoft.com/office/powerpoint/2010/main" val="1853918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F75F-81A0-3CCA-647F-5F139EF32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3" y="223660"/>
            <a:ext cx="2609707" cy="810991"/>
          </a:xfrm>
        </p:spPr>
        <p:txBody>
          <a:bodyPr/>
          <a:lstStyle/>
          <a:p>
            <a:r>
              <a:rPr lang="en-US" dirty="0"/>
              <a:t>Spatial envelope (full scale)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C9CD8E-6801-5AB9-5FE3-D76B7BAF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68" y="2761486"/>
            <a:ext cx="10460757" cy="133502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03D189B-C0DD-DF36-6D05-55EC1876F8FD}"/>
              </a:ext>
            </a:extLst>
          </p:cNvPr>
          <p:cNvGrpSpPr/>
          <p:nvPr/>
        </p:nvGrpSpPr>
        <p:grpSpPr>
          <a:xfrm>
            <a:off x="2049863" y="2479430"/>
            <a:ext cx="1939332" cy="476593"/>
            <a:chOff x="2049863" y="3077308"/>
            <a:chExt cx="1939332" cy="70338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56D773-CB1F-192D-0DB6-1397D3E2E3C6}"/>
                </a:ext>
              </a:extLst>
            </p:cNvPr>
            <p:cNvCxnSpPr/>
            <p:nvPr/>
          </p:nvCxnSpPr>
          <p:spPr>
            <a:xfrm>
              <a:off x="2049863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660382-7C85-5A7D-3F50-15F6308B5A55}"/>
                </a:ext>
              </a:extLst>
            </p:cNvPr>
            <p:cNvCxnSpPr/>
            <p:nvPr/>
          </p:nvCxnSpPr>
          <p:spPr>
            <a:xfrm>
              <a:off x="3989195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00D992-6C8E-BC5E-5C1E-F7D4C20802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9863" y="3219719"/>
              <a:ext cx="193933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B64D0D-9B61-5CD4-2593-39C51C54548C}"/>
              </a:ext>
            </a:extLst>
          </p:cNvPr>
          <p:cNvGrpSpPr/>
          <p:nvPr/>
        </p:nvGrpSpPr>
        <p:grpSpPr>
          <a:xfrm>
            <a:off x="2049862" y="1861809"/>
            <a:ext cx="7837712" cy="476593"/>
            <a:chOff x="2049863" y="3077308"/>
            <a:chExt cx="1939332" cy="70338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08D5BB6-C6C5-9E58-7923-0D3CAAE7060B}"/>
                </a:ext>
              </a:extLst>
            </p:cNvPr>
            <p:cNvCxnSpPr/>
            <p:nvPr/>
          </p:nvCxnSpPr>
          <p:spPr>
            <a:xfrm>
              <a:off x="2049863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DD4790-4D56-89DA-9D02-DA822BD9D13B}"/>
                </a:ext>
              </a:extLst>
            </p:cNvPr>
            <p:cNvCxnSpPr/>
            <p:nvPr/>
          </p:nvCxnSpPr>
          <p:spPr>
            <a:xfrm>
              <a:off x="3989195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89F6CDB-FCAA-27F2-1EA1-F4A0CEAC5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9863" y="3219719"/>
              <a:ext cx="193933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DB844F0-B0C4-68E4-320F-36BB61CECA99}"/>
              </a:ext>
            </a:extLst>
          </p:cNvPr>
          <p:cNvSpPr txBox="1"/>
          <p:nvPr/>
        </p:nvSpPr>
        <p:spPr>
          <a:xfrm>
            <a:off x="2784689" y="2285238"/>
            <a:ext cx="46968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effectLst/>
                <a:latin typeface="Helvetica" pitchFamily="2" charset="0"/>
              </a:rPr>
              <a:t>1.25 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DC7064-C68B-94C6-36F0-2BD157BA47DF}"/>
              </a:ext>
            </a:extLst>
          </p:cNvPr>
          <p:cNvSpPr txBox="1"/>
          <p:nvPr/>
        </p:nvSpPr>
        <p:spPr>
          <a:xfrm>
            <a:off x="5764186" y="1673346"/>
            <a:ext cx="38472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effectLst/>
                <a:latin typeface="Helvetica" pitchFamily="2" charset="0"/>
              </a:rPr>
              <a:t>5.0 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598E13-0CCA-0CE9-E38F-04EE6C9366BE}"/>
              </a:ext>
            </a:extLst>
          </p:cNvPr>
          <p:cNvCxnSpPr>
            <a:cxnSpLocks/>
          </p:cNvCxnSpPr>
          <p:nvPr/>
        </p:nvCxnSpPr>
        <p:spPr>
          <a:xfrm>
            <a:off x="1005075" y="3278273"/>
            <a:ext cx="918113" cy="67092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3690F6B-78E9-1B94-5DDB-EBA72F85C8BF}"/>
              </a:ext>
            </a:extLst>
          </p:cNvPr>
          <p:cNvCxnSpPr>
            <a:cxnSpLocks/>
          </p:cNvCxnSpPr>
          <p:nvPr/>
        </p:nvCxnSpPr>
        <p:spPr>
          <a:xfrm>
            <a:off x="472271" y="3938601"/>
            <a:ext cx="14374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701E2E-7C27-F2AF-3B14-0C008BD36121}"/>
              </a:ext>
            </a:extLst>
          </p:cNvPr>
          <p:cNvSpPr txBox="1"/>
          <p:nvPr/>
        </p:nvSpPr>
        <p:spPr>
          <a:xfrm>
            <a:off x="1319000" y="3661602"/>
            <a:ext cx="23083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effectLst/>
                <a:latin typeface="Helvetica" pitchFamily="2" charset="0"/>
              </a:rPr>
              <a:t>35°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E40B0DD8-E4A8-42A6-16B0-E15CBA1F8DFD}"/>
              </a:ext>
            </a:extLst>
          </p:cNvPr>
          <p:cNvSpPr/>
          <p:nvPr/>
        </p:nvSpPr>
        <p:spPr>
          <a:xfrm>
            <a:off x="1117065" y="3122535"/>
            <a:ext cx="1653335" cy="1653335"/>
          </a:xfrm>
          <a:prstGeom prst="arc">
            <a:avLst>
              <a:gd name="adj1" fmla="val 10853267"/>
              <a:gd name="adj2" fmla="val 1287298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C21FDDC-F1FF-C871-CF02-DF348E11C1CB}"/>
              </a:ext>
            </a:extLst>
          </p:cNvPr>
          <p:cNvGrpSpPr/>
          <p:nvPr/>
        </p:nvGrpSpPr>
        <p:grpSpPr>
          <a:xfrm>
            <a:off x="9887574" y="2477885"/>
            <a:ext cx="742326" cy="951115"/>
            <a:chOff x="2049863" y="3077308"/>
            <a:chExt cx="1939332" cy="140371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508A688-7AD1-289E-6C4E-E0CDDD55E003}"/>
                </a:ext>
              </a:extLst>
            </p:cNvPr>
            <p:cNvCxnSpPr/>
            <p:nvPr/>
          </p:nvCxnSpPr>
          <p:spPr>
            <a:xfrm>
              <a:off x="2049863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5A7629-C175-F676-AF99-FE2436EBC0C2}"/>
                </a:ext>
              </a:extLst>
            </p:cNvPr>
            <p:cNvCxnSpPr>
              <a:cxnSpLocks/>
            </p:cNvCxnSpPr>
            <p:nvPr/>
          </p:nvCxnSpPr>
          <p:spPr>
            <a:xfrm>
              <a:off x="3989195" y="3077308"/>
              <a:ext cx="0" cy="14037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0512260-5291-3DC2-0EBE-BF0D9BF60B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9863" y="3219719"/>
              <a:ext cx="193933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F27B317-F0D4-72EA-437C-EDC7458B97C4}"/>
              </a:ext>
            </a:extLst>
          </p:cNvPr>
          <p:cNvSpPr txBox="1"/>
          <p:nvPr/>
        </p:nvSpPr>
        <p:spPr>
          <a:xfrm>
            <a:off x="9700357" y="4359875"/>
            <a:ext cx="46968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effectLst/>
                <a:latin typeface="Helvetica" pitchFamily="2" charset="0"/>
              </a:rPr>
              <a:t>0.14 m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BE15668-0EE6-8661-C516-8E9C042B140C}"/>
              </a:ext>
            </a:extLst>
          </p:cNvPr>
          <p:cNvGrpSpPr/>
          <p:nvPr/>
        </p:nvGrpSpPr>
        <p:grpSpPr>
          <a:xfrm>
            <a:off x="7065770" y="4549207"/>
            <a:ext cx="228600" cy="1213043"/>
            <a:chOff x="8464552" y="203981"/>
            <a:chExt cx="228600" cy="121304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2778C8E-D1DE-7098-9E65-CF1BB7CE21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64552" y="1188424"/>
              <a:ext cx="228600" cy="228600"/>
              <a:chOff x="8572500" y="158175"/>
              <a:chExt cx="1172506" cy="117250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4756BA3-0A56-8F42-54A2-B5DB0BB806E5}"/>
                  </a:ext>
                </a:extLst>
              </p:cNvPr>
              <p:cNvSpPr/>
              <p:nvPr/>
            </p:nvSpPr>
            <p:spPr>
              <a:xfrm>
                <a:off x="8572500" y="158175"/>
                <a:ext cx="1172506" cy="1172506"/>
              </a:xfrm>
              <a:prstGeom prst="ellipse">
                <a:avLst/>
              </a:prstGeom>
              <a:noFill/>
              <a:ln w="28575">
                <a:solidFill>
                  <a:srgbClr val="6BB6F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FE7C8CC4-D585-5256-9A90-ED6D904031B3}"/>
                  </a:ext>
                </a:extLst>
              </p:cNvPr>
              <p:cNvCxnSpPr>
                <a:cxnSpLocks/>
                <a:stCxn id="57" idx="2"/>
                <a:endCxn id="57" idx="6"/>
              </p:cNvCxnSpPr>
              <p:nvPr/>
            </p:nvCxnSpPr>
            <p:spPr>
              <a:xfrm>
                <a:off x="8572500" y="744428"/>
                <a:ext cx="1172506" cy="0"/>
              </a:xfrm>
              <a:prstGeom prst="line">
                <a:avLst/>
              </a:prstGeom>
              <a:ln w="28575">
                <a:solidFill>
                  <a:srgbClr val="6BB6F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E9F729C3-E9EF-3E6F-88E5-8075263E25C8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9158753" y="158175"/>
                <a:ext cx="0" cy="1172506"/>
              </a:xfrm>
              <a:prstGeom prst="line">
                <a:avLst/>
              </a:prstGeom>
              <a:ln w="28575">
                <a:solidFill>
                  <a:srgbClr val="6BB6F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6158F6E-086A-8C70-1EAA-F4CCA90FB9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64552" y="860277"/>
              <a:ext cx="228600" cy="228600"/>
              <a:chOff x="8572500" y="158175"/>
              <a:chExt cx="1172506" cy="1172506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5D55D8C-BEB5-E32B-47F0-680CEC8638E3}"/>
                  </a:ext>
                </a:extLst>
              </p:cNvPr>
              <p:cNvSpPr/>
              <p:nvPr/>
            </p:nvSpPr>
            <p:spPr>
              <a:xfrm>
                <a:off x="8572500" y="158175"/>
                <a:ext cx="1172506" cy="1172506"/>
              </a:xfrm>
              <a:prstGeom prst="ellipse">
                <a:avLst/>
              </a:prstGeom>
              <a:noFill/>
              <a:ln w="28575">
                <a:solidFill>
                  <a:srgbClr val="9AD3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0D32A7D-5D27-48D0-8BC7-F481D54DBF5B}"/>
                  </a:ext>
                </a:extLst>
              </p:cNvPr>
              <p:cNvCxnSpPr>
                <a:cxnSpLocks/>
                <a:stCxn id="55" idx="2"/>
                <a:endCxn id="55" idx="6"/>
              </p:cNvCxnSpPr>
              <p:nvPr/>
            </p:nvCxnSpPr>
            <p:spPr>
              <a:xfrm>
                <a:off x="8572500" y="744428"/>
                <a:ext cx="1172506" cy="0"/>
              </a:xfrm>
              <a:prstGeom prst="line">
                <a:avLst/>
              </a:prstGeom>
              <a:ln w="28575">
                <a:solidFill>
                  <a:srgbClr val="9AD33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9EA2811-5A51-3D48-1820-73D74400E65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64552" y="532129"/>
              <a:ext cx="228600" cy="228600"/>
              <a:chOff x="8572500" y="158175"/>
              <a:chExt cx="1172506" cy="1172506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7DDA106-A0C0-2C9F-6A31-13F782EF4F3F}"/>
                  </a:ext>
                </a:extLst>
              </p:cNvPr>
              <p:cNvSpPr/>
              <p:nvPr/>
            </p:nvSpPr>
            <p:spPr>
              <a:xfrm>
                <a:off x="8572500" y="158175"/>
                <a:ext cx="1172506" cy="1172506"/>
              </a:xfrm>
              <a:prstGeom prst="ellipse">
                <a:avLst/>
              </a:prstGeom>
              <a:noFill/>
              <a:ln w="28575">
                <a:solidFill>
                  <a:srgbClr val="FF984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043446F-94A0-2D1E-D18E-872C03A99C7F}"/>
                  </a:ext>
                </a:extLst>
              </p:cNvPr>
              <p:cNvCxnSpPr>
                <a:cxnSpLocks/>
                <a:stCxn id="53" idx="2"/>
                <a:endCxn id="53" idx="6"/>
              </p:cNvCxnSpPr>
              <p:nvPr/>
            </p:nvCxnSpPr>
            <p:spPr>
              <a:xfrm>
                <a:off x="8572500" y="744428"/>
                <a:ext cx="1172506" cy="0"/>
              </a:xfrm>
              <a:prstGeom prst="line">
                <a:avLst/>
              </a:prstGeom>
              <a:ln w="28575">
                <a:solidFill>
                  <a:srgbClr val="FF984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D75363D-EBC5-CD09-B02C-B4D1F21530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64552" y="203981"/>
              <a:ext cx="228600" cy="228600"/>
              <a:chOff x="8572500" y="158175"/>
              <a:chExt cx="1172506" cy="1172506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931518B-AD0C-7678-751B-F73CD944D726}"/>
                  </a:ext>
                </a:extLst>
              </p:cNvPr>
              <p:cNvSpPr/>
              <p:nvPr/>
            </p:nvSpPr>
            <p:spPr>
              <a:xfrm>
                <a:off x="8572500" y="158175"/>
                <a:ext cx="1172506" cy="1172506"/>
              </a:xfrm>
              <a:prstGeom prst="ellipse">
                <a:avLst/>
              </a:prstGeom>
              <a:noFill/>
              <a:ln w="28575">
                <a:solidFill>
                  <a:srgbClr val="DA8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B6E207F-776B-D6E0-F835-4F8CA723487F}"/>
                  </a:ext>
                </a:extLst>
              </p:cNvPr>
              <p:cNvCxnSpPr>
                <a:cxnSpLocks/>
                <a:stCxn id="50" idx="2"/>
                <a:endCxn id="50" idx="6"/>
              </p:cNvCxnSpPr>
              <p:nvPr/>
            </p:nvCxnSpPr>
            <p:spPr>
              <a:xfrm>
                <a:off x="8572500" y="744428"/>
                <a:ext cx="1172506" cy="0"/>
              </a:xfrm>
              <a:prstGeom prst="line">
                <a:avLst/>
              </a:prstGeom>
              <a:ln w="28575">
                <a:solidFill>
                  <a:srgbClr val="DA8D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6C5AE463-F7E6-8141-A49B-732539C0BA92}"/>
                  </a:ext>
                </a:extLst>
              </p:cNvPr>
              <p:cNvCxnSpPr>
                <a:cxnSpLocks/>
                <a:stCxn id="50" idx="0"/>
                <a:endCxn id="50" idx="4"/>
              </p:cNvCxnSpPr>
              <p:nvPr/>
            </p:nvCxnSpPr>
            <p:spPr>
              <a:xfrm>
                <a:off x="9158753" y="158175"/>
                <a:ext cx="0" cy="1172506"/>
              </a:xfrm>
              <a:prstGeom prst="line">
                <a:avLst/>
              </a:prstGeom>
              <a:ln w="28575">
                <a:solidFill>
                  <a:srgbClr val="DA8D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60C08235-67F9-961F-CE9F-8DAF1FCFB9C0}"/>
              </a:ext>
            </a:extLst>
          </p:cNvPr>
          <p:cNvSpPr/>
          <p:nvPr/>
        </p:nvSpPr>
        <p:spPr>
          <a:xfrm>
            <a:off x="1875414" y="4519597"/>
            <a:ext cx="1460662" cy="146066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747069B-A0CF-0008-910B-A60A8C0938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420" b="12720"/>
          <a:stretch/>
        </p:blipFill>
        <p:spPr>
          <a:xfrm>
            <a:off x="4340032" y="4519597"/>
            <a:ext cx="2586036" cy="1272263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60DAF8A-9EDC-67AD-F7E0-02AA8C959234}"/>
              </a:ext>
            </a:extLst>
          </p:cNvPr>
          <p:cNvSpPr txBox="1"/>
          <p:nvPr/>
        </p:nvSpPr>
        <p:spPr>
          <a:xfrm>
            <a:off x="2036230" y="4028279"/>
            <a:ext cx="569515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effectLst/>
                <a:latin typeface="Helvetica" pitchFamily="2" charset="0"/>
              </a:rPr>
              <a:t>XZ View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261E4B-75D5-39E5-FF50-893355B7C5C1}"/>
              </a:ext>
            </a:extLst>
          </p:cNvPr>
          <p:cNvSpPr txBox="1"/>
          <p:nvPr/>
        </p:nvSpPr>
        <p:spPr>
          <a:xfrm>
            <a:off x="2030972" y="6126344"/>
            <a:ext cx="574773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effectLst/>
                <a:latin typeface="Helvetica" pitchFamily="2" charset="0"/>
              </a:rPr>
              <a:t>XY View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CBC3CE-270E-4BAB-B281-B5EF7F0E0560}"/>
              </a:ext>
            </a:extLst>
          </p:cNvPr>
          <p:cNvSpPr/>
          <p:nvPr/>
        </p:nvSpPr>
        <p:spPr>
          <a:xfrm>
            <a:off x="2401286" y="4451363"/>
            <a:ext cx="334357" cy="16066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F038B19-3BD9-9C43-FDFB-746427F2B4EA}"/>
              </a:ext>
            </a:extLst>
          </p:cNvPr>
          <p:cNvSpPr/>
          <p:nvPr/>
        </p:nvSpPr>
        <p:spPr>
          <a:xfrm>
            <a:off x="2002974" y="4644026"/>
            <a:ext cx="1205542" cy="1205542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0466699-B06E-D24A-6B20-43F1E488443D}"/>
              </a:ext>
            </a:extLst>
          </p:cNvPr>
          <p:cNvCxnSpPr>
            <a:cxnSpLocks/>
          </p:cNvCxnSpPr>
          <p:nvPr/>
        </p:nvCxnSpPr>
        <p:spPr>
          <a:xfrm>
            <a:off x="2735643" y="4451006"/>
            <a:ext cx="1604389" cy="68933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3ADB43-3BAE-7079-DED2-4C73C92D4631}"/>
              </a:ext>
            </a:extLst>
          </p:cNvPr>
          <p:cNvCxnSpPr>
            <a:cxnSpLocks/>
          </p:cNvCxnSpPr>
          <p:nvPr/>
        </p:nvCxnSpPr>
        <p:spPr>
          <a:xfrm>
            <a:off x="2735643" y="4610001"/>
            <a:ext cx="1604389" cy="1187739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2DA1BFA-8E35-BA29-325C-2CEEA3385905}"/>
              </a:ext>
            </a:extLst>
          </p:cNvPr>
          <p:cNvSpPr txBox="1"/>
          <p:nvPr/>
        </p:nvSpPr>
        <p:spPr>
          <a:xfrm>
            <a:off x="7711793" y="4899695"/>
            <a:ext cx="1744557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200" dirty="0" err="1">
                <a:latin typeface="Helvetica" pitchFamily="2" charset="0"/>
              </a:rPr>
              <a:t>R</a:t>
            </a:r>
            <a:r>
              <a:rPr lang="en-US" sz="1200" baseline="-25000" dirty="0" err="1">
                <a:latin typeface="Helvetica" pitchFamily="2" charset="0"/>
              </a:rPr>
              <a:t>cavity</a:t>
            </a:r>
            <a:r>
              <a:rPr lang="en-US" sz="1200" baseline="-25000" dirty="0">
                <a:latin typeface="Helvetica" pitchFamily="2" charset="0"/>
              </a:rPr>
              <a:t>, inner</a:t>
            </a:r>
            <a:r>
              <a:rPr lang="en-US" sz="1200" dirty="0">
                <a:latin typeface="Helvetica" pitchFamily="2" charset="0"/>
              </a:rPr>
              <a:t> = 327.0 mm</a:t>
            </a:r>
          </a:p>
          <a:p>
            <a:r>
              <a:rPr lang="en-US" sz="1200" dirty="0" err="1">
                <a:latin typeface="Helvetica" pitchFamily="2" charset="0"/>
              </a:rPr>
              <a:t>R</a:t>
            </a:r>
            <a:r>
              <a:rPr lang="en-US" sz="1200" baseline="-25000" dirty="0" err="1">
                <a:latin typeface="Helvetica" pitchFamily="2" charset="0"/>
              </a:rPr>
              <a:t>cond</a:t>
            </a:r>
            <a:r>
              <a:rPr lang="en-US" sz="1200" baseline="-25000" dirty="0">
                <a:latin typeface="Helvetica" pitchFamily="2" charset="0"/>
              </a:rPr>
              <a:t>, inner</a:t>
            </a:r>
            <a:r>
              <a:rPr lang="en-US" sz="1200" dirty="0">
                <a:latin typeface="Helvetica" pitchFamily="2" charset="0"/>
              </a:rPr>
              <a:t> = 334.35 mm</a:t>
            </a:r>
          </a:p>
          <a:p>
            <a:r>
              <a:rPr lang="en-US" sz="1200" dirty="0" err="1">
                <a:latin typeface="Helvetica" pitchFamily="2" charset="0"/>
              </a:rPr>
              <a:t>R</a:t>
            </a:r>
            <a:r>
              <a:rPr lang="en-US" sz="1200" baseline="-25000" dirty="0" err="1">
                <a:latin typeface="Helvetica" pitchFamily="2" charset="0"/>
              </a:rPr>
              <a:t>cond</a:t>
            </a:r>
            <a:r>
              <a:rPr lang="en-US" sz="1200" baseline="-25000" dirty="0">
                <a:latin typeface="Helvetica" pitchFamily="2" charset="0"/>
              </a:rPr>
              <a:t>, outer</a:t>
            </a:r>
            <a:r>
              <a:rPr lang="en-US" sz="1200" dirty="0">
                <a:latin typeface="Helvetica" pitchFamily="2" charset="0"/>
              </a:rPr>
              <a:t> = 338.70 mm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FF8E839-8379-4574-825F-7A83CD57BC24}"/>
              </a:ext>
            </a:extLst>
          </p:cNvPr>
          <p:cNvGrpSpPr/>
          <p:nvPr/>
        </p:nvGrpSpPr>
        <p:grpSpPr>
          <a:xfrm>
            <a:off x="9597374" y="3858216"/>
            <a:ext cx="661363" cy="476593"/>
            <a:chOff x="9597374" y="3858216"/>
            <a:chExt cx="661363" cy="47659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67A7924-4A8F-11BB-2219-89B075A683AC}"/>
                </a:ext>
              </a:extLst>
            </p:cNvPr>
            <p:cNvCxnSpPr/>
            <p:nvPr/>
          </p:nvCxnSpPr>
          <p:spPr>
            <a:xfrm>
              <a:off x="9887574" y="3858216"/>
              <a:ext cx="0" cy="4765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473F521-4EE4-0370-74E7-50C93852E1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8537" y="4141568"/>
              <a:ext cx="2902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B782644-7967-D5E4-237A-1CC3728438A6}"/>
                </a:ext>
              </a:extLst>
            </p:cNvPr>
            <p:cNvCxnSpPr/>
            <p:nvPr/>
          </p:nvCxnSpPr>
          <p:spPr>
            <a:xfrm>
              <a:off x="9968537" y="3858216"/>
              <a:ext cx="0" cy="4765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B38ECFA-2CDD-F460-0E73-3930FEC9F9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97374" y="4141568"/>
              <a:ext cx="2902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64CB6B0-168A-6514-358E-D5E76B45BCBE}"/>
              </a:ext>
            </a:extLst>
          </p:cNvPr>
          <p:cNvSpPr txBox="1"/>
          <p:nvPr/>
        </p:nvSpPr>
        <p:spPr>
          <a:xfrm>
            <a:off x="10023897" y="2285238"/>
            <a:ext cx="46968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effectLst/>
                <a:latin typeface="Helvetica" pitchFamily="2" charset="0"/>
              </a:rPr>
              <a:t>0.48 m</a:t>
            </a:r>
          </a:p>
        </p:txBody>
      </p:sp>
    </p:spTree>
    <p:extLst>
      <p:ext uri="{BB962C8B-B14F-4D97-AF65-F5344CB8AC3E}">
        <p14:creationId xmlns:p14="http://schemas.microsoft.com/office/powerpoint/2010/main" val="319858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F75F-81A0-3CCA-647F-5F139EF32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3" y="223660"/>
            <a:ext cx="2609707" cy="810991"/>
          </a:xfrm>
        </p:spPr>
        <p:txBody>
          <a:bodyPr/>
          <a:lstStyle/>
          <a:p>
            <a:r>
              <a:rPr lang="en-US" dirty="0"/>
              <a:t>Spatial envelope (prototype)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C9CD8E-6801-5AB9-5FE3-D76B7BAF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4128" y="1747394"/>
            <a:ext cx="6271642" cy="178772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2B64D0D-9B61-5CD4-2593-39C51C54548C}"/>
              </a:ext>
            </a:extLst>
          </p:cNvPr>
          <p:cNvGrpSpPr/>
          <p:nvPr/>
        </p:nvGrpSpPr>
        <p:grpSpPr>
          <a:xfrm>
            <a:off x="2233900" y="1441257"/>
            <a:ext cx="4489450" cy="476593"/>
            <a:chOff x="2049863" y="3077308"/>
            <a:chExt cx="1939332" cy="70338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08D5BB6-C6C5-9E58-7923-0D3CAAE7060B}"/>
                </a:ext>
              </a:extLst>
            </p:cNvPr>
            <p:cNvCxnSpPr/>
            <p:nvPr/>
          </p:nvCxnSpPr>
          <p:spPr>
            <a:xfrm>
              <a:off x="2049863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DD4790-4D56-89DA-9D02-DA822BD9D13B}"/>
                </a:ext>
              </a:extLst>
            </p:cNvPr>
            <p:cNvCxnSpPr/>
            <p:nvPr/>
          </p:nvCxnSpPr>
          <p:spPr>
            <a:xfrm>
              <a:off x="3989195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89F6CDB-FCAA-27F2-1EA1-F4A0CEAC5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9863" y="3219719"/>
              <a:ext cx="193933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BDC7064-C68B-94C6-36F0-2BD157BA47DF}"/>
              </a:ext>
            </a:extLst>
          </p:cNvPr>
          <p:cNvSpPr txBox="1"/>
          <p:nvPr/>
        </p:nvSpPr>
        <p:spPr>
          <a:xfrm>
            <a:off x="4200538" y="1212505"/>
            <a:ext cx="38472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2</a:t>
            </a:r>
            <a:r>
              <a:rPr lang="en-US" sz="1200" dirty="0">
                <a:effectLst/>
                <a:latin typeface="Helvetica" pitchFamily="2" charset="0"/>
              </a:rPr>
              <a:t>.0 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598E13-0CCA-0CE9-E38F-04EE6C9366BE}"/>
              </a:ext>
            </a:extLst>
          </p:cNvPr>
          <p:cNvCxnSpPr>
            <a:cxnSpLocks/>
          </p:cNvCxnSpPr>
          <p:nvPr/>
        </p:nvCxnSpPr>
        <p:spPr>
          <a:xfrm>
            <a:off x="1176339" y="2742291"/>
            <a:ext cx="918113" cy="67092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3690F6B-78E9-1B94-5DDB-EBA72F85C8BF}"/>
              </a:ext>
            </a:extLst>
          </p:cNvPr>
          <p:cNvCxnSpPr>
            <a:cxnSpLocks/>
          </p:cNvCxnSpPr>
          <p:nvPr/>
        </p:nvCxnSpPr>
        <p:spPr>
          <a:xfrm>
            <a:off x="643535" y="3402619"/>
            <a:ext cx="14374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701E2E-7C27-F2AF-3B14-0C008BD36121}"/>
              </a:ext>
            </a:extLst>
          </p:cNvPr>
          <p:cNvSpPr txBox="1"/>
          <p:nvPr/>
        </p:nvSpPr>
        <p:spPr>
          <a:xfrm>
            <a:off x="1490264" y="3125620"/>
            <a:ext cx="23083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effectLst/>
                <a:latin typeface="Helvetica" pitchFamily="2" charset="0"/>
              </a:rPr>
              <a:t>35°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E40B0DD8-E4A8-42A6-16B0-E15CBA1F8DFD}"/>
              </a:ext>
            </a:extLst>
          </p:cNvPr>
          <p:cNvSpPr/>
          <p:nvPr/>
        </p:nvSpPr>
        <p:spPr>
          <a:xfrm>
            <a:off x="1288329" y="2586553"/>
            <a:ext cx="1653335" cy="1653335"/>
          </a:xfrm>
          <a:prstGeom prst="arc">
            <a:avLst>
              <a:gd name="adj1" fmla="val 10853267"/>
              <a:gd name="adj2" fmla="val 1287298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C21FDDC-F1FF-C871-CF02-DF348E11C1CB}"/>
              </a:ext>
            </a:extLst>
          </p:cNvPr>
          <p:cNvGrpSpPr/>
          <p:nvPr/>
        </p:nvGrpSpPr>
        <p:grpSpPr>
          <a:xfrm flipH="1">
            <a:off x="1142851" y="1627815"/>
            <a:ext cx="1085068" cy="1092374"/>
            <a:chOff x="2049863" y="3077308"/>
            <a:chExt cx="1939332" cy="140371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508A688-7AD1-289E-6C4E-E0CDDD55E003}"/>
                </a:ext>
              </a:extLst>
            </p:cNvPr>
            <p:cNvCxnSpPr/>
            <p:nvPr/>
          </p:nvCxnSpPr>
          <p:spPr>
            <a:xfrm>
              <a:off x="2049863" y="3077308"/>
              <a:ext cx="0" cy="7033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5A7629-C175-F676-AF99-FE2436EBC0C2}"/>
                </a:ext>
              </a:extLst>
            </p:cNvPr>
            <p:cNvCxnSpPr>
              <a:cxnSpLocks/>
            </p:cNvCxnSpPr>
            <p:nvPr/>
          </p:nvCxnSpPr>
          <p:spPr>
            <a:xfrm>
              <a:off x="3989195" y="3077308"/>
              <a:ext cx="0" cy="14037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0512260-5291-3DC2-0EBE-BF0D9BF60B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9863" y="3219719"/>
              <a:ext cx="193933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F27B317-F0D4-72EA-437C-EDC7458B97C4}"/>
              </a:ext>
            </a:extLst>
          </p:cNvPr>
          <p:cNvSpPr txBox="1"/>
          <p:nvPr/>
        </p:nvSpPr>
        <p:spPr>
          <a:xfrm>
            <a:off x="1933006" y="3788681"/>
            <a:ext cx="46968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effectLst/>
                <a:latin typeface="Helvetica" pitchFamily="2" charset="0"/>
              </a:rPr>
              <a:t>0.14 m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BE15668-0EE6-8661-C516-8E9C042B140C}"/>
              </a:ext>
            </a:extLst>
          </p:cNvPr>
          <p:cNvGrpSpPr/>
          <p:nvPr/>
        </p:nvGrpSpPr>
        <p:grpSpPr>
          <a:xfrm>
            <a:off x="7065770" y="4549207"/>
            <a:ext cx="228600" cy="1213043"/>
            <a:chOff x="8464552" y="203981"/>
            <a:chExt cx="228600" cy="121304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2778C8E-D1DE-7098-9E65-CF1BB7CE21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64552" y="1188424"/>
              <a:ext cx="228600" cy="228600"/>
              <a:chOff x="8572500" y="158175"/>
              <a:chExt cx="1172506" cy="117250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4756BA3-0A56-8F42-54A2-B5DB0BB806E5}"/>
                  </a:ext>
                </a:extLst>
              </p:cNvPr>
              <p:cNvSpPr/>
              <p:nvPr/>
            </p:nvSpPr>
            <p:spPr>
              <a:xfrm>
                <a:off x="8572500" y="158175"/>
                <a:ext cx="1172506" cy="1172506"/>
              </a:xfrm>
              <a:prstGeom prst="ellipse">
                <a:avLst/>
              </a:prstGeom>
              <a:noFill/>
              <a:ln w="28575">
                <a:solidFill>
                  <a:srgbClr val="6BB6F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FE7C8CC4-D585-5256-9A90-ED6D904031B3}"/>
                  </a:ext>
                </a:extLst>
              </p:cNvPr>
              <p:cNvCxnSpPr>
                <a:cxnSpLocks/>
                <a:stCxn id="57" idx="2"/>
                <a:endCxn id="57" idx="6"/>
              </p:cNvCxnSpPr>
              <p:nvPr/>
            </p:nvCxnSpPr>
            <p:spPr>
              <a:xfrm>
                <a:off x="8572500" y="744428"/>
                <a:ext cx="1172506" cy="0"/>
              </a:xfrm>
              <a:prstGeom prst="line">
                <a:avLst/>
              </a:prstGeom>
              <a:ln w="28575">
                <a:solidFill>
                  <a:srgbClr val="6BB6F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E9F729C3-E9EF-3E6F-88E5-8075263E25C8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9158753" y="158175"/>
                <a:ext cx="0" cy="1172506"/>
              </a:xfrm>
              <a:prstGeom prst="line">
                <a:avLst/>
              </a:prstGeom>
              <a:ln w="28575">
                <a:solidFill>
                  <a:srgbClr val="6BB6F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6158F6E-086A-8C70-1EAA-F4CCA90FB9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64552" y="860277"/>
              <a:ext cx="228600" cy="228600"/>
              <a:chOff x="8572500" y="158175"/>
              <a:chExt cx="1172506" cy="1172506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5D55D8C-BEB5-E32B-47F0-680CEC8638E3}"/>
                  </a:ext>
                </a:extLst>
              </p:cNvPr>
              <p:cNvSpPr/>
              <p:nvPr/>
            </p:nvSpPr>
            <p:spPr>
              <a:xfrm>
                <a:off x="8572500" y="158175"/>
                <a:ext cx="1172506" cy="1172506"/>
              </a:xfrm>
              <a:prstGeom prst="ellipse">
                <a:avLst/>
              </a:prstGeom>
              <a:noFill/>
              <a:ln w="28575">
                <a:solidFill>
                  <a:srgbClr val="9AD3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0D32A7D-5D27-48D0-8BC7-F481D54DBF5B}"/>
                  </a:ext>
                </a:extLst>
              </p:cNvPr>
              <p:cNvCxnSpPr>
                <a:cxnSpLocks/>
                <a:stCxn id="55" idx="2"/>
                <a:endCxn id="55" idx="6"/>
              </p:cNvCxnSpPr>
              <p:nvPr/>
            </p:nvCxnSpPr>
            <p:spPr>
              <a:xfrm>
                <a:off x="8572500" y="744428"/>
                <a:ext cx="1172506" cy="0"/>
              </a:xfrm>
              <a:prstGeom prst="line">
                <a:avLst/>
              </a:prstGeom>
              <a:ln w="28575">
                <a:solidFill>
                  <a:srgbClr val="9AD33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9EA2811-5A51-3D48-1820-73D74400E65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64552" y="532129"/>
              <a:ext cx="228600" cy="228600"/>
              <a:chOff x="8572500" y="158175"/>
              <a:chExt cx="1172506" cy="1172506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7DDA106-A0C0-2C9F-6A31-13F782EF4F3F}"/>
                  </a:ext>
                </a:extLst>
              </p:cNvPr>
              <p:cNvSpPr/>
              <p:nvPr/>
            </p:nvSpPr>
            <p:spPr>
              <a:xfrm>
                <a:off x="8572500" y="158175"/>
                <a:ext cx="1172506" cy="1172506"/>
              </a:xfrm>
              <a:prstGeom prst="ellipse">
                <a:avLst/>
              </a:prstGeom>
              <a:noFill/>
              <a:ln w="28575">
                <a:solidFill>
                  <a:srgbClr val="FF984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043446F-94A0-2D1E-D18E-872C03A99C7F}"/>
                  </a:ext>
                </a:extLst>
              </p:cNvPr>
              <p:cNvCxnSpPr>
                <a:cxnSpLocks/>
                <a:stCxn id="53" idx="2"/>
                <a:endCxn id="53" idx="6"/>
              </p:cNvCxnSpPr>
              <p:nvPr/>
            </p:nvCxnSpPr>
            <p:spPr>
              <a:xfrm>
                <a:off x="8572500" y="744428"/>
                <a:ext cx="1172506" cy="0"/>
              </a:xfrm>
              <a:prstGeom prst="line">
                <a:avLst/>
              </a:prstGeom>
              <a:ln w="28575">
                <a:solidFill>
                  <a:srgbClr val="FF984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D75363D-EBC5-CD09-B02C-B4D1F21530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64552" y="203981"/>
              <a:ext cx="228600" cy="228600"/>
              <a:chOff x="8572500" y="158175"/>
              <a:chExt cx="1172506" cy="1172506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931518B-AD0C-7678-751B-F73CD944D726}"/>
                  </a:ext>
                </a:extLst>
              </p:cNvPr>
              <p:cNvSpPr/>
              <p:nvPr/>
            </p:nvSpPr>
            <p:spPr>
              <a:xfrm>
                <a:off x="8572500" y="158175"/>
                <a:ext cx="1172506" cy="1172506"/>
              </a:xfrm>
              <a:prstGeom prst="ellipse">
                <a:avLst/>
              </a:prstGeom>
              <a:noFill/>
              <a:ln w="28575">
                <a:solidFill>
                  <a:srgbClr val="DA8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B6E207F-776B-D6E0-F835-4F8CA723487F}"/>
                  </a:ext>
                </a:extLst>
              </p:cNvPr>
              <p:cNvCxnSpPr>
                <a:cxnSpLocks/>
                <a:stCxn id="50" idx="2"/>
                <a:endCxn id="50" idx="6"/>
              </p:cNvCxnSpPr>
              <p:nvPr/>
            </p:nvCxnSpPr>
            <p:spPr>
              <a:xfrm>
                <a:off x="8572500" y="744428"/>
                <a:ext cx="1172506" cy="0"/>
              </a:xfrm>
              <a:prstGeom prst="line">
                <a:avLst/>
              </a:prstGeom>
              <a:ln w="28575">
                <a:solidFill>
                  <a:srgbClr val="DA8D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6C5AE463-F7E6-8141-A49B-732539C0BA92}"/>
                  </a:ext>
                </a:extLst>
              </p:cNvPr>
              <p:cNvCxnSpPr>
                <a:cxnSpLocks/>
                <a:stCxn id="50" idx="0"/>
                <a:endCxn id="50" idx="4"/>
              </p:cNvCxnSpPr>
              <p:nvPr/>
            </p:nvCxnSpPr>
            <p:spPr>
              <a:xfrm>
                <a:off x="9158753" y="158175"/>
                <a:ext cx="0" cy="1172506"/>
              </a:xfrm>
              <a:prstGeom prst="line">
                <a:avLst/>
              </a:prstGeom>
              <a:ln w="28575">
                <a:solidFill>
                  <a:srgbClr val="DA8D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60C08235-67F9-961F-CE9F-8DAF1FCFB9C0}"/>
              </a:ext>
            </a:extLst>
          </p:cNvPr>
          <p:cNvSpPr/>
          <p:nvPr/>
        </p:nvSpPr>
        <p:spPr>
          <a:xfrm>
            <a:off x="1875414" y="4519597"/>
            <a:ext cx="1460662" cy="146066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747069B-A0CF-0008-910B-A60A8C0938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420" b="12720"/>
          <a:stretch/>
        </p:blipFill>
        <p:spPr>
          <a:xfrm>
            <a:off x="4340032" y="4519597"/>
            <a:ext cx="2586036" cy="1272263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60DAF8A-9EDC-67AD-F7E0-02AA8C959234}"/>
              </a:ext>
            </a:extLst>
          </p:cNvPr>
          <p:cNvSpPr txBox="1"/>
          <p:nvPr/>
        </p:nvSpPr>
        <p:spPr>
          <a:xfrm>
            <a:off x="2036230" y="4028279"/>
            <a:ext cx="569515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effectLst/>
                <a:latin typeface="Helvetica" pitchFamily="2" charset="0"/>
              </a:rPr>
              <a:t>XZ View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261E4B-75D5-39E5-FF50-893355B7C5C1}"/>
              </a:ext>
            </a:extLst>
          </p:cNvPr>
          <p:cNvSpPr txBox="1"/>
          <p:nvPr/>
        </p:nvSpPr>
        <p:spPr>
          <a:xfrm>
            <a:off x="2030972" y="6126344"/>
            <a:ext cx="574773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effectLst/>
                <a:latin typeface="Helvetica" pitchFamily="2" charset="0"/>
              </a:rPr>
              <a:t>XY View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CBC3CE-270E-4BAB-B281-B5EF7F0E0560}"/>
              </a:ext>
            </a:extLst>
          </p:cNvPr>
          <p:cNvSpPr/>
          <p:nvPr/>
        </p:nvSpPr>
        <p:spPr>
          <a:xfrm>
            <a:off x="2401286" y="4451363"/>
            <a:ext cx="334357" cy="16066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F038B19-3BD9-9C43-FDFB-746427F2B4EA}"/>
              </a:ext>
            </a:extLst>
          </p:cNvPr>
          <p:cNvSpPr/>
          <p:nvPr/>
        </p:nvSpPr>
        <p:spPr>
          <a:xfrm>
            <a:off x="2002974" y="4644026"/>
            <a:ext cx="1205542" cy="1205542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0466699-B06E-D24A-6B20-43F1E488443D}"/>
              </a:ext>
            </a:extLst>
          </p:cNvPr>
          <p:cNvCxnSpPr>
            <a:cxnSpLocks/>
          </p:cNvCxnSpPr>
          <p:nvPr/>
        </p:nvCxnSpPr>
        <p:spPr>
          <a:xfrm>
            <a:off x="2735643" y="4451006"/>
            <a:ext cx="1604389" cy="68933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3ADB43-3BAE-7079-DED2-4C73C92D4631}"/>
              </a:ext>
            </a:extLst>
          </p:cNvPr>
          <p:cNvCxnSpPr>
            <a:cxnSpLocks/>
          </p:cNvCxnSpPr>
          <p:nvPr/>
        </p:nvCxnSpPr>
        <p:spPr>
          <a:xfrm>
            <a:off x="2735643" y="4610001"/>
            <a:ext cx="1604389" cy="1187739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2DA1BFA-8E35-BA29-325C-2CEEA3385905}"/>
              </a:ext>
            </a:extLst>
          </p:cNvPr>
          <p:cNvSpPr txBox="1"/>
          <p:nvPr/>
        </p:nvSpPr>
        <p:spPr>
          <a:xfrm>
            <a:off x="7711793" y="4899695"/>
            <a:ext cx="1744557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200" dirty="0" err="1">
                <a:latin typeface="Helvetica" pitchFamily="2" charset="0"/>
              </a:rPr>
              <a:t>R</a:t>
            </a:r>
            <a:r>
              <a:rPr lang="en-US" sz="1200" baseline="-25000" dirty="0" err="1">
                <a:latin typeface="Helvetica" pitchFamily="2" charset="0"/>
              </a:rPr>
              <a:t>cavity</a:t>
            </a:r>
            <a:r>
              <a:rPr lang="en-US" sz="1200" baseline="-25000" dirty="0">
                <a:latin typeface="Helvetica" pitchFamily="2" charset="0"/>
              </a:rPr>
              <a:t>, inner</a:t>
            </a:r>
            <a:r>
              <a:rPr lang="en-US" sz="1200" dirty="0">
                <a:latin typeface="Helvetica" pitchFamily="2" charset="0"/>
              </a:rPr>
              <a:t> = 327.0 mm</a:t>
            </a:r>
          </a:p>
          <a:p>
            <a:r>
              <a:rPr lang="en-US" sz="1200" dirty="0" err="1">
                <a:latin typeface="Helvetica" pitchFamily="2" charset="0"/>
              </a:rPr>
              <a:t>R</a:t>
            </a:r>
            <a:r>
              <a:rPr lang="en-US" sz="1200" baseline="-25000" dirty="0" err="1">
                <a:latin typeface="Helvetica" pitchFamily="2" charset="0"/>
              </a:rPr>
              <a:t>cond</a:t>
            </a:r>
            <a:r>
              <a:rPr lang="en-US" sz="1200" baseline="-25000" dirty="0">
                <a:latin typeface="Helvetica" pitchFamily="2" charset="0"/>
              </a:rPr>
              <a:t>, inner</a:t>
            </a:r>
            <a:r>
              <a:rPr lang="en-US" sz="1200" dirty="0">
                <a:latin typeface="Helvetica" pitchFamily="2" charset="0"/>
              </a:rPr>
              <a:t> = 334.35 mm</a:t>
            </a:r>
          </a:p>
          <a:p>
            <a:r>
              <a:rPr lang="en-US" sz="1200" dirty="0" err="1">
                <a:latin typeface="Helvetica" pitchFamily="2" charset="0"/>
              </a:rPr>
              <a:t>R</a:t>
            </a:r>
            <a:r>
              <a:rPr lang="en-US" sz="1200" baseline="-25000" dirty="0" err="1">
                <a:latin typeface="Helvetica" pitchFamily="2" charset="0"/>
              </a:rPr>
              <a:t>cond</a:t>
            </a:r>
            <a:r>
              <a:rPr lang="en-US" sz="1200" baseline="-25000" dirty="0">
                <a:latin typeface="Helvetica" pitchFamily="2" charset="0"/>
              </a:rPr>
              <a:t>, outer</a:t>
            </a:r>
            <a:r>
              <a:rPr lang="en-US" sz="1200" dirty="0">
                <a:latin typeface="Helvetica" pitchFamily="2" charset="0"/>
              </a:rPr>
              <a:t> = 338.70 mm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FF8E839-8379-4574-825F-7A83CD57BC24}"/>
              </a:ext>
            </a:extLst>
          </p:cNvPr>
          <p:cNvGrpSpPr/>
          <p:nvPr/>
        </p:nvGrpSpPr>
        <p:grpSpPr>
          <a:xfrm>
            <a:off x="1600664" y="3240111"/>
            <a:ext cx="1117686" cy="476593"/>
            <a:chOff x="9597374" y="3858216"/>
            <a:chExt cx="661363" cy="476593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67A7924-4A8F-11BB-2219-89B075A683AC}"/>
                </a:ext>
              </a:extLst>
            </p:cNvPr>
            <p:cNvCxnSpPr/>
            <p:nvPr/>
          </p:nvCxnSpPr>
          <p:spPr>
            <a:xfrm>
              <a:off x="9887574" y="3858216"/>
              <a:ext cx="0" cy="4765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473F521-4EE4-0370-74E7-50C93852E1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8537" y="4141568"/>
              <a:ext cx="2902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B782644-7967-D5E4-237A-1CC3728438A6}"/>
                </a:ext>
              </a:extLst>
            </p:cNvPr>
            <p:cNvCxnSpPr/>
            <p:nvPr/>
          </p:nvCxnSpPr>
          <p:spPr>
            <a:xfrm>
              <a:off x="9968537" y="3858216"/>
              <a:ext cx="0" cy="4765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B38ECFA-2CDD-F460-0E73-3930FEC9F9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97374" y="4141568"/>
              <a:ext cx="2902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457B0B-6BB6-D87B-ECA1-79EF940F48B7}"/>
              </a:ext>
            </a:extLst>
          </p:cNvPr>
          <p:cNvSpPr txBox="1"/>
          <p:nvPr/>
        </p:nvSpPr>
        <p:spPr>
          <a:xfrm>
            <a:off x="1447555" y="1399251"/>
            <a:ext cx="46968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effectLst/>
                <a:latin typeface="Helvetica" pitchFamily="2" charset="0"/>
              </a:rPr>
              <a:t>0.48 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941407-3DE9-587F-64C0-B2E6900FBB87}"/>
              </a:ext>
            </a:extLst>
          </p:cNvPr>
          <p:cNvSpPr/>
          <p:nvPr/>
        </p:nvSpPr>
        <p:spPr>
          <a:xfrm>
            <a:off x="7431113" y="1790744"/>
            <a:ext cx="4133862" cy="17877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6E483-115C-828D-D9C6-2DCCF0857C6C}"/>
              </a:ext>
            </a:extLst>
          </p:cNvPr>
          <p:cNvSpPr txBox="1"/>
          <p:nvPr/>
        </p:nvSpPr>
        <p:spPr>
          <a:xfrm>
            <a:off x="7528348" y="1994884"/>
            <a:ext cx="3939392" cy="13593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Do you need both cones?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Can we do a 1.25 m section instead so that we can use it to scale up to the full ~5 m size?</a:t>
            </a:r>
          </a:p>
        </p:txBody>
      </p:sp>
    </p:spTree>
    <p:extLst>
      <p:ext uri="{BB962C8B-B14F-4D97-AF65-F5344CB8AC3E}">
        <p14:creationId xmlns:p14="http://schemas.microsoft.com/office/powerpoint/2010/main" val="169086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9DE7-2851-4EB0-9EDC-CEC6E32C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Former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FBEB-ADDB-9ECC-6DAC-A9233A9BF1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3994" y="1409701"/>
            <a:ext cx="4559156" cy="1860550"/>
          </a:xfrm>
        </p:spPr>
        <p:txBody>
          <a:bodyPr>
            <a:normAutofit/>
          </a:bodyPr>
          <a:lstStyle/>
          <a:p>
            <a:r>
              <a:rPr lang="en-US" sz="1600" dirty="0"/>
              <a:t>Initially Al 6061</a:t>
            </a:r>
          </a:p>
          <a:p>
            <a:pPr lvl="1"/>
            <a:r>
              <a:rPr lang="en-US" sz="1600" dirty="0"/>
              <a:t>Very different CTE than Cu/</a:t>
            </a:r>
            <a:r>
              <a:rPr lang="en-US" sz="1600" dirty="0" err="1"/>
              <a:t>NbTi</a:t>
            </a:r>
            <a:r>
              <a:rPr lang="en-US" sz="1600" dirty="0"/>
              <a:t> cable</a:t>
            </a:r>
          </a:p>
          <a:p>
            <a:r>
              <a:rPr lang="en-US" sz="1600" dirty="0"/>
              <a:t>Copper-based alloys have similar CTE</a:t>
            </a:r>
          </a:p>
          <a:p>
            <a:endParaRPr lang="en-US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180BAA-DE35-BCE4-471B-4008A6A123D3}"/>
              </a:ext>
            </a:extLst>
          </p:cNvPr>
          <p:cNvSpPr/>
          <p:nvPr/>
        </p:nvSpPr>
        <p:spPr>
          <a:xfrm>
            <a:off x="5828621" y="623225"/>
            <a:ext cx="5527675" cy="264702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AD105-5BCC-6E5C-8E78-08A549A52F56}"/>
              </a:ext>
            </a:extLst>
          </p:cNvPr>
          <p:cNvSpPr txBox="1"/>
          <p:nvPr/>
        </p:nvSpPr>
        <p:spPr>
          <a:xfrm>
            <a:off x="5934190" y="861826"/>
            <a:ext cx="5316537" cy="216982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What is the impact of the alloying constituents on magnetic susceptibility? 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Are they available in a form factor that we need?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Plating needed on inside for cavity?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Cost of material (considering cost of machining)?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C5D051-18F0-5D52-EA1C-81F91A511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902143"/>
              </p:ext>
            </p:extLst>
          </p:nvPr>
        </p:nvGraphicFramePr>
        <p:xfrm>
          <a:off x="1727200" y="3645301"/>
          <a:ext cx="9086849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026">
                  <a:extLst>
                    <a:ext uri="{9D8B030D-6E8A-4147-A177-3AD203B41FA5}">
                      <a16:colId xmlns:a16="http://schemas.microsoft.com/office/drawing/2014/main" val="102651594"/>
                    </a:ext>
                  </a:extLst>
                </a:gridCol>
                <a:gridCol w="3514624">
                  <a:extLst>
                    <a:ext uri="{9D8B030D-6E8A-4147-A177-3AD203B41FA5}">
                      <a16:colId xmlns:a16="http://schemas.microsoft.com/office/drawing/2014/main" val="410203859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3705756217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1599166614"/>
                    </a:ext>
                  </a:extLst>
                </a:gridCol>
                <a:gridCol w="1428749">
                  <a:extLst>
                    <a:ext uri="{9D8B030D-6E8A-4147-A177-3AD203B41FA5}">
                      <a16:colId xmlns:a16="http://schemas.microsoft.com/office/drawing/2014/main" val="673463517"/>
                    </a:ext>
                  </a:extLst>
                </a:gridCol>
              </a:tblGrid>
              <a:tr h="2296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Composition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Young’s modulus (</a:t>
                      </a:r>
                      <a:r>
                        <a:rPr lang="en-US" sz="1200" dirty="0" err="1">
                          <a:latin typeface="+mn-lt"/>
                        </a:rPr>
                        <a:t>GPa</a:t>
                      </a:r>
                      <a:r>
                        <a:rPr lang="en-US" sz="1200" dirty="0"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Yield strength (MPa)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Tensile strength (MPa)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54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Al 6061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Mg (0.8-1.2%), Si (0.4-0.8%), Fe (0.7%), Cu (0.15-0.4%), Cr (0.04-0.35%), Zn (0.25%), Ti (0.15%), Mn (0.15%)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290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512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Copper-silicon (C87500)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Pb (0.09%), Zn (12.0-16.0%), Al (0.5%), Si (3.0-5.0%)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414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461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Silicon bronze (C87300)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Pb (0.09%), Zn (0.25%), Fe (0.2%), Mn (0.8-1.5%), Si (3.5-4.5%)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684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C18160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 (0.10%), Cr (0.2-1.2%), Si (0.1%), Zr (0.05-0.25%)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448-496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483-621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059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53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C4B8-9850-4BF8-8A9A-3B8969A5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2" y="223660"/>
            <a:ext cx="4359131" cy="948922"/>
          </a:xfrm>
        </p:spPr>
        <p:txBody>
          <a:bodyPr>
            <a:normAutofit/>
          </a:bodyPr>
          <a:lstStyle/>
          <a:p>
            <a:r>
              <a:rPr lang="en-US" dirty="0"/>
              <a:t>Stiffening of cylindrical segments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95B26-70B3-4046-82F1-D95CD9F1AEE6}"/>
              </a:ext>
            </a:extLst>
          </p:cNvPr>
          <p:cNvGrpSpPr/>
          <p:nvPr/>
        </p:nvGrpSpPr>
        <p:grpSpPr>
          <a:xfrm>
            <a:off x="0" y="1329600"/>
            <a:ext cx="5058997" cy="4984554"/>
            <a:chOff x="55929" y="1356122"/>
            <a:chExt cx="5058997" cy="49845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1478A45-72CE-460C-866D-C003816BC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26" t="4871" r="2541" b="1434"/>
            <a:stretch/>
          </p:blipFill>
          <p:spPr>
            <a:xfrm>
              <a:off x="461964" y="2524529"/>
              <a:ext cx="4652962" cy="3816147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E75099-4299-4ED8-B1FF-8E2F3DE6C6B3}"/>
                </a:ext>
              </a:extLst>
            </p:cNvPr>
            <p:cNvGrpSpPr/>
            <p:nvPr/>
          </p:nvGrpSpPr>
          <p:grpSpPr>
            <a:xfrm>
              <a:off x="55929" y="1466717"/>
              <a:ext cx="4627195" cy="874275"/>
              <a:chOff x="755622" y="1662834"/>
              <a:chExt cx="5314650" cy="100416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711822F-61B7-4E4B-98E7-ADEF8C601482}"/>
                  </a:ext>
                </a:extLst>
              </p:cNvPr>
              <p:cNvGrpSpPr/>
              <p:nvPr/>
            </p:nvGrpSpPr>
            <p:grpSpPr>
              <a:xfrm>
                <a:off x="2102994" y="1662834"/>
                <a:ext cx="2412999" cy="1004164"/>
                <a:chOff x="2102994" y="1662834"/>
                <a:chExt cx="2412999" cy="1004164"/>
              </a:xfrm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074DCC85-0B48-4CFA-BAD0-08A332CFBBDA}"/>
                    </a:ext>
                  </a:extLst>
                </p:cNvPr>
                <p:cNvSpPr/>
                <p:nvPr/>
              </p:nvSpPr>
              <p:spPr>
                <a:xfrm>
                  <a:off x="2102994" y="1665084"/>
                  <a:ext cx="2412999" cy="1001914"/>
                </a:xfrm>
                <a:custGeom>
                  <a:avLst/>
                  <a:gdLst>
                    <a:gd name="connsiteX0" fmla="*/ 1472 w 2412999"/>
                    <a:gd name="connsiteY0" fmla="*/ 0 h 1001914"/>
                    <a:gd name="connsiteX1" fmla="*/ 515823 w 2412999"/>
                    <a:gd name="connsiteY1" fmla="*/ 0 h 1001914"/>
                    <a:gd name="connsiteX2" fmla="*/ 515823 w 2412999"/>
                    <a:gd name="connsiteY2" fmla="*/ 507377 h 1001914"/>
                    <a:gd name="connsiteX3" fmla="*/ 699293 w 2412999"/>
                    <a:gd name="connsiteY3" fmla="*/ 507377 h 1001914"/>
                    <a:gd name="connsiteX4" fmla="*/ 699293 w 2412999"/>
                    <a:gd name="connsiteY4" fmla="*/ 0 h 1001914"/>
                    <a:gd name="connsiteX5" fmla="*/ 1721643 w 2412999"/>
                    <a:gd name="connsiteY5" fmla="*/ 0 h 1001914"/>
                    <a:gd name="connsiteX6" fmla="*/ 1721643 w 2412999"/>
                    <a:gd name="connsiteY6" fmla="*/ 507377 h 1001914"/>
                    <a:gd name="connsiteX7" fmla="*/ 1898648 w 2412999"/>
                    <a:gd name="connsiteY7" fmla="*/ 507377 h 1001914"/>
                    <a:gd name="connsiteX8" fmla="*/ 1898648 w 2412999"/>
                    <a:gd name="connsiteY8" fmla="*/ 0 h 1001914"/>
                    <a:gd name="connsiteX9" fmla="*/ 2412999 w 2412999"/>
                    <a:gd name="connsiteY9" fmla="*/ 0 h 1001914"/>
                    <a:gd name="connsiteX10" fmla="*/ 2412999 w 2412999"/>
                    <a:gd name="connsiteY10" fmla="*/ 576603 h 1001914"/>
                    <a:gd name="connsiteX11" fmla="*/ 2412998 w 2412999"/>
                    <a:gd name="connsiteY11" fmla="*/ 576603 h 1001914"/>
                    <a:gd name="connsiteX12" fmla="*/ 2412998 w 2412999"/>
                    <a:gd name="connsiteY12" fmla="*/ 1001914 h 1001914"/>
                    <a:gd name="connsiteX13" fmla="*/ 0 w 2412999"/>
                    <a:gd name="connsiteY13" fmla="*/ 1001914 h 1001914"/>
                    <a:gd name="connsiteX14" fmla="*/ 0 w 2412999"/>
                    <a:gd name="connsiteY14" fmla="*/ 507377 h 1001914"/>
                    <a:gd name="connsiteX15" fmla="*/ 1472 w 2412999"/>
                    <a:gd name="connsiteY15" fmla="*/ 507377 h 1001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412999" h="1001914">
                      <a:moveTo>
                        <a:pt x="1472" y="0"/>
                      </a:moveTo>
                      <a:lnTo>
                        <a:pt x="515823" y="0"/>
                      </a:lnTo>
                      <a:lnTo>
                        <a:pt x="515823" y="507377"/>
                      </a:lnTo>
                      <a:lnTo>
                        <a:pt x="699293" y="507377"/>
                      </a:lnTo>
                      <a:lnTo>
                        <a:pt x="699293" y="0"/>
                      </a:lnTo>
                      <a:lnTo>
                        <a:pt x="1721643" y="0"/>
                      </a:lnTo>
                      <a:lnTo>
                        <a:pt x="1721643" y="507377"/>
                      </a:lnTo>
                      <a:lnTo>
                        <a:pt x="1898648" y="507377"/>
                      </a:lnTo>
                      <a:lnTo>
                        <a:pt x="1898648" y="0"/>
                      </a:lnTo>
                      <a:lnTo>
                        <a:pt x="2412999" y="0"/>
                      </a:lnTo>
                      <a:lnTo>
                        <a:pt x="2412999" y="576603"/>
                      </a:lnTo>
                      <a:lnTo>
                        <a:pt x="2412998" y="576603"/>
                      </a:lnTo>
                      <a:lnTo>
                        <a:pt x="2412998" y="1001914"/>
                      </a:lnTo>
                      <a:lnTo>
                        <a:pt x="0" y="1001914"/>
                      </a:lnTo>
                      <a:lnTo>
                        <a:pt x="0" y="507377"/>
                      </a:lnTo>
                      <a:lnTo>
                        <a:pt x="1472" y="507377"/>
                      </a:lnTo>
                      <a:close/>
                    </a:path>
                  </a:pathLst>
                </a:custGeom>
                <a:solidFill>
                  <a:srgbClr val="B3BDCE"/>
                </a:solidFill>
                <a:ln w="19050">
                  <a:solidFill>
                    <a:srgbClr val="605C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3EE3D8E-A9DC-4FF1-9F5A-03A11DC87E11}"/>
                    </a:ext>
                  </a:extLst>
                </p:cNvPr>
                <p:cNvSpPr/>
                <p:nvPr/>
              </p:nvSpPr>
              <p:spPr>
                <a:xfrm>
                  <a:off x="2653535" y="2033612"/>
                  <a:ext cx="122444" cy="1224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A8DD1DB-C458-46B8-9EDA-C882CAC5679A}"/>
                    </a:ext>
                  </a:extLst>
                </p:cNvPr>
                <p:cNvSpPr/>
                <p:nvPr/>
              </p:nvSpPr>
              <p:spPr>
                <a:xfrm>
                  <a:off x="3854199" y="2033612"/>
                  <a:ext cx="122444" cy="1224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3CC6CDF-7CCE-237A-C0EF-7F2ADA42AE31}"/>
                    </a:ext>
                  </a:extLst>
                </p:cNvPr>
                <p:cNvSpPr/>
                <p:nvPr/>
              </p:nvSpPr>
              <p:spPr>
                <a:xfrm>
                  <a:off x="2653535" y="1910020"/>
                  <a:ext cx="122444" cy="1224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2BB0012-2E56-B978-C534-787497E0C8F9}"/>
                    </a:ext>
                  </a:extLst>
                </p:cNvPr>
                <p:cNvSpPr/>
                <p:nvPr/>
              </p:nvSpPr>
              <p:spPr>
                <a:xfrm>
                  <a:off x="3854199" y="1910020"/>
                  <a:ext cx="122444" cy="1224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26068248-C5F9-B440-C191-6DCD3033BF1E}"/>
                    </a:ext>
                  </a:extLst>
                </p:cNvPr>
                <p:cNvSpPr/>
                <p:nvPr/>
              </p:nvSpPr>
              <p:spPr>
                <a:xfrm>
                  <a:off x="2653535" y="1786427"/>
                  <a:ext cx="122444" cy="1224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6334E46C-4401-13D8-96E7-B09A11603823}"/>
                    </a:ext>
                  </a:extLst>
                </p:cNvPr>
                <p:cNvSpPr/>
                <p:nvPr/>
              </p:nvSpPr>
              <p:spPr>
                <a:xfrm>
                  <a:off x="3854199" y="1786427"/>
                  <a:ext cx="122444" cy="1224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79F185E1-A201-F838-8926-0902B6D8DF1A}"/>
                    </a:ext>
                  </a:extLst>
                </p:cNvPr>
                <p:cNvSpPr/>
                <p:nvPr/>
              </p:nvSpPr>
              <p:spPr>
                <a:xfrm>
                  <a:off x="2653535" y="1662834"/>
                  <a:ext cx="122444" cy="1224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4EC4FF0-CB21-721E-25D4-F6000A79D9B5}"/>
                    </a:ext>
                  </a:extLst>
                </p:cNvPr>
                <p:cNvSpPr/>
                <p:nvPr/>
              </p:nvSpPr>
              <p:spPr>
                <a:xfrm>
                  <a:off x="3854199" y="1662834"/>
                  <a:ext cx="122444" cy="1224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5EC48E7-0240-425B-9985-DFC81E70B247}"/>
                  </a:ext>
                </a:extLst>
              </p:cNvPr>
              <p:cNvGrpSpPr/>
              <p:nvPr/>
            </p:nvGrpSpPr>
            <p:grpSpPr>
              <a:xfrm>
                <a:off x="1652144" y="1665086"/>
                <a:ext cx="361950" cy="990599"/>
                <a:chOff x="2089150" y="1665086"/>
                <a:chExt cx="361950" cy="990599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79830727-7F10-4BF0-B637-73476192E9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89150" y="1665086"/>
                  <a:ext cx="36195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7486D3A5-1A17-453F-A808-14802E0F7A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89150" y="2655685"/>
                  <a:ext cx="36195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EA74A58-9892-4CC5-AC2F-2712EBE23E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66950" y="1665086"/>
                  <a:ext cx="0" cy="99059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08B8D19-09A5-4347-AE33-16865CA28138}"/>
                  </a:ext>
                </a:extLst>
              </p:cNvPr>
              <p:cNvGrpSpPr/>
              <p:nvPr/>
            </p:nvGrpSpPr>
            <p:grpSpPr>
              <a:xfrm>
                <a:off x="4562825" y="2172462"/>
                <a:ext cx="361950" cy="494537"/>
                <a:chOff x="2089150" y="1665086"/>
                <a:chExt cx="361950" cy="990599"/>
              </a:xfrm>
            </p:grpSpPr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66BE463-2E18-4B92-9D2C-462CD9808D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89150" y="1665086"/>
                  <a:ext cx="36195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0632CE3-5B1E-41C8-AF6F-37FD1FE6C1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89150" y="2655685"/>
                  <a:ext cx="36195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AD39F9D1-0339-49CB-98E8-7DF34BD3E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66950" y="1665086"/>
                  <a:ext cx="0" cy="99059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587210B-4D13-407B-9342-F2061556F712}"/>
                  </a:ext>
                </a:extLst>
              </p:cNvPr>
              <p:cNvCxnSpPr>
                <a:cxnSpLocks/>
                <a:endCxn id="47" idx="7"/>
              </p:cNvCxnSpPr>
              <p:nvPr/>
            </p:nvCxnSpPr>
            <p:spPr>
              <a:xfrm flipH="1" flipV="1">
                <a:off x="4001642" y="2172461"/>
                <a:ext cx="561184" cy="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B8283B-0401-4587-99BD-15872F1EBDA3}"/>
                  </a:ext>
                </a:extLst>
              </p:cNvPr>
              <p:cNvSpPr txBox="1"/>
              <p:nvPr/>
            </p:nvSpPr>
            <p:spPr>
              <a:xfrm>
                <a:off x="755622" y="1967604"/>
                <a:ext cx="1122734" cy="31815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sz="1200" dirty="0"/>
                  <a:t>13 mm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8002053-78D2-4278-A591-D6290B6E8438}"/>
                  </a:ext>
                </a:extLst>
              </p:cNvPr>
              <p:cNvSpPr txBox="1"/>
              <p:nvPr/>
            </p:nvSpPr>
            <p:spPr>
              <a:xfrm>
                <a:off x="4789042" y="2254980"/>
                <a:ext cx="1281230" cy="31815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sz="1200" dirty="0"/>
                  <a:t>6.65 mm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8FE36F7-F901-40B1-A7A8-DB86E0945E01}"/>
                </a:ext>
              </a:extLst>
            </p:cNvPr>
            <p:cNvGrpSpPr/>
            <p:nvPr/>
          </p:nvGrpSpPr>
          <p:grpSpPr>
            <a:xfrm>
              <a:off x="1229014" y="1356122"/>
              <a:ext cx="2100876" cy="1856740"/>
              <a:chOff x="1705406" y="1612640"/>
              <a:chExt cx="2100876" cy="185674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78D5BF2-8BFA-4F9E-9A3D-0BB5A17BE6EA}"/>
                  </a:ext>
                </a:extLst>
              </p:cNvPr>
              <p:cNvSpPr/>
              <p:nvPr/>
            </p:nvSpPr>
            <p:spPr>
              <a:xfrm>
                <a:off x="1705406" y="1612640"/>
                <a:ext cx="2100876" cy="110020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B488DF6-F9A9-4FB9-B0DB-02130141D0E0}"/>
                  </a:ext>
                </a:extLst>
              </p:cNvPr>
              <p:cNvSpPr/>
              <p:nvPr/>
            </p:nvSpPr>
            <p:spPr>
              <a:xfrm>
                <a:off x="2358212" y="3371477"/>
                <a:ext cx="169120" cy="979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D7776ED4-E4EA-4ECF-B4C4-42E7DC2FB9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705406" y="2710061"/>
                <a:ext cx="652808" cy="75931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962C388-3037-4722-AD96-CE8045B58A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2477" y="2710063"/>
                <a:ext cx="1273805" cy="75931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E2A18-12F5-4B11-B36D-206E8D4C40A0}"/>
                </a:ext>
              </a:extLst>
            </p:cNvPr>
            <p:cNvSpPr txBox="1"/>
            <p:nvPr/>
          </p:nvSpPr>
          <p:spPr>
            <a:xfrm>
              <a:off x="546361" y="4432602"/>
              <a:ext cx="228856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ID = 654 mm</a:t>
              </a:r>
            </a:p>
            <a:p>
              <a:pPr algn="ctr"/>
              <a:r>
                <a:rPr lang="en-US" sz="1200" dirty="0"/>
                <a:t>OD = 680 mm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A4E9016-D567-565E-EA9F-856E88D83122}"/>
              </a:ext>
            </a:extLst>
          </p:cNvPr>
          <p:cNvSpPr txBox="1"/>
          <p:nvPr/>
        </p:nvSpPr>
        <p:spPr>
          <a:xfrm>
            <a:off x="3245066" y="6049211"/>
            <a:ext cx="242694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Suspension ring thickness = 25 mm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D8E20-C33D-8050-3534-4AA1F09D8BA2}"/>
              </a:ext>
            </a:extLst>
          </p:cNvPr>
          <p:cNvSpPr txBox="1"/>
          <p:nvPr/>
        </p:nvSpPr>
        <p:spPr>
          <a:xfrm>
            <a:off x="3673155" y="2283023"/>
            <a:ext cx="2801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2"/>
                </a:solidFill>
              </a:rPr>
              <a:t>Stiffening ring thickness = 10 mm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926919-D993-34FA-68F3-569635B996C6}"/>
              </a:ext>
            </a:extLst>
          </p:cNvPr>
          <p:cNvCxnSpPr>
            <a:cxnSpLocks/>
          </p:cNvCxnSpPr>
          <p:nvPr/>
        </p:nvCxnSpPr>
        <p:spPr>
          <a:xfrm flipH="1" flipV="1">
            <a:off x="2826144" y="5847062"/>
            <a:ext cx="361988" cy="259664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3C91CC-300D-A432-BD93-47A27FD2E014}"/>
              </a:ext>
            </a:extLst>
          </p:cNvPr>
          <p:cNvCxnSpPr>
            <a:cxnSpLocks/>
          </p:cNvCxnSpPr>
          <p:nvPr/>
        </p:nvCxnSpPr>
        <p:spPr>
          <a:xfrm flipH="1">
            <a:off x="3848100" y="2586752"/>
            <a:ext cx="977900" cy="75643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E390DBB-6091-2A64-ABE9-16156AF2CA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159" t="5098" b="11562"/>
          <a:stretch/>
        </p:blipFill>
        <p:spPr>
          <a:xfrm>
            <a:off x="6531179" y="1544018"/>
            <a:ext cx="5139244" cy="41519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1F95AF-1725-3E89-02FA-B28054371CAE}"/>
              </a:ext>
            </a:extLst>
          </p:cNvPr>
          <p:cNvSpPr txBox="1"/>
          <p:nvPr/>
        </p:nvSpPr>
        <p:spPr>
          <a:xfrm>
            <a:off x="6729603" y="1161996"/>
            <a:ext cx="474239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Maximum deflection = 37 µm under gravity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C7E564-9AB8-A5C5-B571-3037EF7D3E7C}"/>
              </a:ext>
            </a:extLst>
          </p:cNvPr>
          <p:cNvSpPr txBox="1"/>
          <p:nvPr/>
        </p:nvSpPr>
        <p:spPr>
          <a:xfrm>
            <a:off x="6531179" y="5818378"/>
            <a:ext cx="513924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Note: calculations performed with Al 6061. Need to redo with new alloy.</a:t>
            </a:r>
            <a:endParaRPr lang="en-US" sz="12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834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C4B8-9850-4BF8-8A9A-3B8969A5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2" y="223660"/>
            <a:ext cx="4359131" cy="948922"/>
          </a:xfrm>
        </p:spPr>
        <p:txBody>
          <a:bodyPr>
            <a:normAutofit/>
          </a:bodyPr>
          <a:lstStyle/>
          <a:p>
            <a:r>
              <a:rPr lang="en-US" dirty="0"/>
              <a:t>Suspension of cylindrical segments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39C4E-A17B-6918-10BB-A7CD41BD06EC}"/>
              </a:ext>
            </a:extLst>
          </p:cNvPr>
          <p:cNvSpPr txBox="1"/>
          <p:nvPr/>
        </p:nvSpPr>
        <p:spPr>
          <a:xfrm>
            <a:off x="903628" y="1891482"/>
            <a:ext cx="146880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200" dirty="0" err="1">
                <a:solidFill>
                  <a:srgbClr val="FE8E01"/>
                </a:solidFill>
                <a:latin typeface="Helvetica" pitchFamily="2" charset="0"/>
              </a:rPr>
              <a:t>R</a:t>
            </a:r>
            <a:r>
              <a:rPr lang="en-US" sz="1200" baseline="-25000" dirty="0" err="1">
                <a:solidFill>
                  <a:srgbClr val="FE8E01"/>
                </a:solidFill>
                <a:latin typeface="Helvetica" pitchFamily="2" charset="0"/>
              </a:rPr>
              <a:t>support</a:t>
            </a:r>
            <a:r>
              <a:rPr lang="en-US" sz="1200" baseline="-25000" dirty="0">
                <a:solidFill>
                  <a:srgbClr val="FE8E01"/>
                </a:solidFill>
                <a:latin typeface="Helvetica" pitchFamily="2" charset="0"/>
              </a:rPr>
              <a:t> tabs</a:t>
            </a:r>
            <a:r>
              <a:rPr lang="en-US" sz="1200" dirty="0">
                <a:solidFill>
                  <a:srgbClr val="FE8E01"/>
                </a:solidFill>
                <a:latin typeface="Helvetica" pitchFamily="2" charset="0"/>
              </a:rPr>
              <a:t> = 410 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AE494C-2374-BD4B-6DCF-4562E455D1A9}"/>
              </a:ext>
            </a:extLst>
          </p:cNvPr>
          <p:cNvSpPr txBox="1"/>
          <p:nvPr/>
        </p:nvSpPr>
        <p:spPr>
          <a:xfrm>
            <a:off x="1350003" y="4389864"/>
            <a:ext cx="1711163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itchFamily="2" charset="0"/>
              </a:rPr>
              <a:t>R</a:t>
            </a:r>
            <a:r>
              <a:rPr lang="en-US" sz="1200" baseline="-25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itchFamily="2" charset="0"/>
              </a:rPr>
              <a:t>suspension</a:t>
            </a:r>
            <a:r>
              <a:rPr lang="en-US" sz="1200" baseline="-250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itchFamily="2" charset="0"/>
              </a:rPr>
              <a:t> ring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itchFamily="2" charset="0"/>
              </a:rPr>
              <a:t> = 365 mm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A78C57-A481-6C1D-D778-E8B428D7AB2E}"/>
              </a:ext>
            </a:extLst>
          </p:cNvPr>
          <p:cNvGrpSpPr/>
          <p:nvPr/>
        </p:nvGrpSpPr>
        <p:grpSpPr>
          <a:xfrm>
            <a:off x="3952609" y="1544894"/>
            <a:ext cx="4577801" cy="4823452"/>
            <a:chOff x="7072248" y="1080083"/>
            <a:chExt cx="4577801" cy="482345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CCF8661-171F-317C-F2C6-82C838DCF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53" t="1110" r="5341" b="3078"/>
            <a:stretch/>
          </p:blipFill>
          <p:spPr>
            <a:xfrm>
              <a:off x="7072248" y="1080083"/>
              <a:ext cx="4577801" cy="482345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A03A31-C192-D670-A43E-FBE3A9C40025}"/>
                </a:ext>
              </a:extLst>
            </p:cNvPr>
            <p:cNvSpPr/>
            <p:nvPr/>
          </p:nvSpPr>
          <p:spPr>
            <a:xfrm>
              <a:off x="7267827" y="1423965"/>
              <a:ext cx="1017642" cy="83430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9535885-B0F2-6D98-3FB6-CC26B8EEF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605" y="1601104"/>
              <a:ext cx="1774720" cy="1770746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493BFAC-13CA-F066-8D15-21D1344A46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1325" y="1601104"/>
              <a:ext cx="1755775" cy="1770746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9F3D2A9F-E7D3-C291-322D-22E85746701D}"/>
                </a:ext>
              </a:extLst>
            </p:cNvPr>
            <p:cNvCxnSpPr>
              <a:cxnSpLocks/>
            </p:cNvCxnSpPr>
            <p:nvPr/>
          </p:nvCxnSpPr>
          <p:spPr>
            <a:xfrm>
              <a:off x="9331325" y="3371850"/>
              <a:ext cx="0" cy="2502181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D37947FD-FFD8-DE34-8F1A-1421FF6E361F}"/>
                </a:ext>
              </a:extLst>
            </p:cNvPr>
            <p:cNvSpPr/>
            <p:nvPr/>
          </p:nvSpPr>
          <p:spPr>
            <a:xfrm>
              <a:off x="8975726" y="2980390"/>
              <a:ext cx="711200" cy="711200"/>
            </a:xfrm>
            <a:prstGeom prst="arc">
              <a:avLst>
                <a:gd name="adj1" fmla="val 13350627"/>
                <a:gd name="adj2" fmla="val 19157349"/>
              </a:avLst>
            </a:prstGeom>
            <a:ln w="1905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2390BE34-09F1-F1D5-EAA4-0F97F76ED8D0}"/>
                </a:ext>
              </a:extLst>
            </p:cNvPr>
            <p:cNvSpPr/>
            <p:nvPr/>
          </p:nvSpPr>
          <p:spPr>
            <a:xfrm>
              <a:off x="8722472" y="2710495"/>
              <a:ext cx="1217708" cy="1217708"/>
            </a:xfrm>
            <a:prstGeom prst="arc">
              <a:avLst>
                <a:gd name="adj1" fmla="val 19057845"/>
                <a:gd name="adj2" fmla="val 5410633"/>
              </a:avLst>
            </a:prstGeom>
            <a:ln w="1905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ABCC647-23AD-B900-AD57-37D47F5600AD}"/>
                </a:ext>
              </a:extLst>
            </p:cNvPr>
            <p:cNvSpPr txBox="1"/>
            <p:nvPr/>
          </p:nvSpPr>
          <p:spPr>
            <a:xfrm>
              <a:off x="9236204" y="2979018"/>
              <a:ext cx="230832" cy="276999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Helvetica" pitchFamily="2" charset="0"/>
                </a:rPr>
                <a:t>90</a:t>
              </a:r>
              <a:r>
                <a:rPr lang="en-US" sz="1200" dirty="0">
                  <a:solidFill>
                    <a:schemeClr val="accent2"/>
                  </a:solidFill>
                  <a:effectLst/>
                  <a:latin typeface="Helvetica" pitchFamily="2" charset="0"/>
                </a:rPr>
                <a:t>°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B85856D-561E-1BC2-1E9C-5D669F6C4D8F}"/>
                </a:ext>
              </a:extLst>
            </p:cNvPr>
            <p:cNvSpPr txBox="1"/>
            <p:nvPr/>
          </p:nvSpPr>
          <p:spPr>
            <a:xfrm>
              <a:off x="9426446" y="3319349"/>
              <a:ext cx="376706" cy="276999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effectLst/>
                  <a:latin typeface="Helvetica" pitchFamily="2" charset="0"/>
                </a:rPr>
                <a:t>135°°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2CCA019-FD7B-DA15-9663-47EDF117468D}"/>
              </a:ext>
            </a:extLst>
          </p:cNvPr>
          <p:cNvSpPr txBox="1"/>
          <p:nvPr/>
        </p:nvSpPr>
        <p:spPr>
          <a:xfrm>
            <a:off x="2931214" y="2864372"/>
            <a:ext cx="1263574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2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US" sz="1200" baseline="-25000" dirty="0" err="1">
                <a:solidFill>
                  <a:srgbClr val="00B0F0"/>
                </a:solidFill>
                <a:latin typeface="Helvetica" pitchFamily="2" charset="0"/>
              </a:rPr>
              <a:t>former</a:t>
            </a:r>
            <a:r>
              <a:rPr lang="en-US" sz="1200" dirty="0">
                <a:solidFill>
                  <a:srgbClr val="00B0F0"/>
                </a:solidFill>
                <a:latin typeface="Helvetica" pitchFamily="2" charset="0"/>
              </a:rPr>
              <a:t> = 340 mm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7F52D4-D001-B801-EDE1-6AAE434E6283}"/>
              </a:ext>
            </a:extLst>
          </p:cNvPr>
          <p:cNvGrpSpPr/>
          <p:nvPr/>
        </p:nvGrpSpPr>
        <p:grpSpPr>
          <a:xfrm>
            <a:off x="597642" y="1888776"/>
            <a:ext cx="4562245" cy="2394106"/>
            <a:chOff x="4793033" y="3018"/>
            <a:chExt cx="4562245" cy="23941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B7A1D5D-21D1-8FF5-6421-D04B42AD84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3033" y="3018"/>
              <a:ext cx="3550545" cy="5571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C5F7AFA-392C-023F-2FFF-C254EF173E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1895" y="837323"/>
              <a:ext cx="2333383" cy="1551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2787E50-5CB7-D4C4-08DE-A02FD1F85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4809" y="571418"/>
              <a:ext cx="2217086" cy="1817042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C278F43-EBDE-6E69-0EAA-CFBBEF8B71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6215" y="1147483"/>
              <a:ext cx="515680" cy="666822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33F58CF-8711-8412-B50D-24125D5433A2}"/>
                </a:ext>
              </a:extLst>
            </p:cNvPr>
            <p:cNvSpPr/>
            <p:nvPr/>
          </p:nvSpPr>
          <p:spPr>
            <a:xfrm>
              <a:off x="5400675" y="806449"/>
              <a:ext cx="1635125" cy="1590675"/>
            </a:xfrm>
            <a:custGeom>
              <a:avLst/>
              <a:gdLst>
                <a:gd name="connsiteX0" fmla="*/ 1651000 w 1651000"/>
                <a:gd name="connsiteY0" fmla="*/ 0 h 1593850"/>
                <a:gd name="connsiteX1" fmla="*/ 596900 w 1651000"/>
                <a:gd name="connsiteY1" fmla="*/ 781050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35125 w 1635125"/>
                <a:gd name="connsiteY0" fmla="*/ 0 h 1590675"/>
                <a:gd name="connsiteX1" fmla="*/ 660400 w 1635125"/>
                <a:gd name="connsiteY1" fmla="*/ 720725 h 1590675"/>
                <a:gd name="connsiteX2" fmla="*/ 0 w 1635125"/>
                <a:gd name="connsiteY2" fmla="*/ 1590675 h 1590675"/>
                <a:gd name="connsiteX0" fmla="*/ 1635125 w 1635125"/>
                <a:gd name="connsiteY0" fmla="*/ 0 h 1590675"/>
                <a:gd name="connsiteX1" fmla="*/ 660400 w 1635125"/>
                <a:gd name="connsiteY1" fmla="*/ 720725 h 1590675"/>
                <a:gd name="connsiteX2" fmla="*/ 0 w 1635125"/>
                <a:gd name="connsiteY2" fmla="*/ 1590675 h 1590675"/>
                <a:gd name="connsiteX0" fmla="*/ 1635125 w 1635125"/>
                <a:gd name="connsiteY0" fmla="*/ 0 h 1590675"/>
                <a:gd name="connsiteX1" fmla="*/ 663575 w 1635125"/>
                <a:gd name="connsiteY1" fmla="*/ 730250 h 1590675"/>
                <a:gd name="connsiteX2" fmla="*/ 0 w 1635125"/>
                <a:gd name="connsiteY2" fmla="*/ 1590675 h 159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5125" h="1590675">
                  <a:moveTo>
                    <a:pt x="1635125" y="0"/>
                  </a:moveTo>
                  <a:cubicBezTo>
                    <a:pt x="1245658" y="206904"/>
                    <a:pt x="941917" y="455083"/>
                    <a:pt x="663575" y="730250"/>
                  </a:cubicBezTo>
                  <a:cubicBezTo>
                    <a:pt x="423333" y="976842"/>
                    <a:pt x="151341" y="1294871"/>
                    <a:pt x="0" y="1590675"/>
                  </a:cubicBezTo>
                </a:path>
              </a:pathLst>
            </a:custGeom>
            <a:ln w="19050">
              <a:solidFill>
                <a:srgbClr val="00B0F0"/>
              </a:solidFill>
              <a:prstDash val="sysDot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4441E08-0A89-3B0C-4483-50CB749DD1FE}"/>
                </a:ext>
              </a:extLst>
            </p:cNvPr>
            <p:cNvSpPr/>
            <p:nvPr/>
          </p:nvSpPr>
          <p:spPr>
            <a:xfrm>
              <a:off x="5012931" y="563830"/>
              <a:ext cx="1780303" cy="1833294"/>
            </a:xfrm>
            <a:custGeom>
              <a:avLst/>
              <a:gdLst>
                <a:gd name="connsiteX0" fmla="*/ 1651000 w 1651000"/>
                <a:gd name="connsiteY0" fmla="*/ 0 h 1593850"/>
                <a:gd name="connsiteX1" fmla="*/ 596900 w 1651000"/>
                <a:gd name="connsiteY1" fmla="*/ 781050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35125 w 1635125"/>
                <a:gd name="connsiteY0" fmla="*/ 0 h 1590675"/>
                <a:gd name="connsiteX1" fmla="*/ 660400 w 1635125"/>
                <a:gd name="connsiteY1" fmla="*/ 720725 h 1590675"/>
                <a:gd name="connsiteX2" fmla="*/ 0 w 1635125"/>
                <a:gd name="connsiteY2" fmla="*/ 1590675 h 1590675"/>
                <a:gd name="connsiteX0" fmla="*/ 1635125 w 1635125"/>
                <a:gd name="connsiteY0" fmla="*/ 0 h 1590675"/>
                <a:gd name="connsiteX1" fmla="*/ 660400 w 1635125"/>
                <a:gd name="connsiteY1" fmla="*/ 720725 h 1590675"/>
                <a:gd name="connsiteX2" fmla="*/ 0 w 1635125"/>
                <a:gd name="connsiteY2" fmla="*/ 1590675 h 1590675"/>
                <a:gd name="connsiteX0" fmla="*/ 1635125 w 1635125"/>
                <a:gd name="connsiteY0" fmla="*/ 0 h 1590675"/>
                <a:gd name="connsiteX1" fmla="*/ 663575 w 1635125"/>
                <a:gd name="connsiteY1" fmla="*/ 730250 h 1590675"/>
                <a:gd name="connsiteX2" fmla="*/ 0 w 1635125"/>
                <a:gd name="connsiteY2" fmla="*/ 1590675 h 159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5125" h="1590675">
                  <a:moveTo>
                    <a:pt x="1635125" y="0"/>
                  </a:moveTo>
                  <a:cubicBezTo>
                    <a:pt x="1245658" y="206904"/>
                    <a:pt x="941917" y="455083"/>
                    <a:pt x="663575" y="730250"/>
                  </a:cubicBezTo>
                  <a:cubicBezTo>
                    <a:pt x="423333" y="976842"/>
                    <a:pt x="151341" y="1294871"/>
                    <a:pt x="0" y="1590675"/>
                  </a:cubicBezTo>
                </a:path>
              </a:pathLst>
            </a:custGeom>
            <a:ln w="1905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AB6F68-3305-44B4-5197-66780AFF31D5}"/>
                </a:ext>
              </a:extLst>
            </p:cNvPr>
            <p:cNvSpPr/>
            <p:nvPr/>
          </p:nvSpPr>
          <p:spPr>
            <a:xfrm>
              <a:off x="4793033" y="560210"/>
              <a:ext cx="1084978" cy="1166544"/>
            </a:xfrm>
            <a:custGeom>
              <a:avLst/>
              <a:gdLst>
                <a:gd name="connsiteX0" fmla="*/ 1651000 w 1651000"/>
                <a:gd name="connsiteY0" fmla="*/ 0 h 1593850"/>
                <a:gd name="connsiteX1" fmla="*/ 596900 w 1651000"/>
                <a:gd name="connsiteY1" fmla="*/ 781050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51000 w 1651000"/>
                <a:gd name="connsiteY0" fmla="*/ 0 h 1593850"/>
                <a:gd name="connsiteX1" fmla="*/ 676275 w 1651000"/>
                <a:gd name="connsiteY1" fmla="*/ 720725 h 1593850"/>
                <a:gd name="connsiteX2" fmla="*/ 0 w 1651000"/>
                <a:gd name="connsiteY2" fmla="*/ 1593850 h 1593850"/>
                <a:gd name="connsiteX0" fmla="*/ 1635125 w 1635125"/>
                <a:gd name="connsiteY0" fmla="*/ 0 h 1590675"/>
                <a:gd name="connsiteX1" fmla="*/ 660400 w 1635125"/>
                <a:gd name="connsiteY1" fmla="*/ 720725 h 1590675"/>
                <a:gd name="connsiteX2" fmla="*/ 0 w 1635125"/>
                <a:gd name="connsiteY2" fmla="*/ 1590675 h 1590675"/>
                <a:gd name="connsiteX0" fmla="*/ 1635125 w 1635125"/>
                <a:gd name="connsiteY0" fmla="*/ 0 h 1590675"/>
                <a:gd name="connsiteX1" fmla="*/ 660400 w 1635125"/>
                <a:gd name="connsiteY1" fmla="*/ 720725 h 1590675"/>
                <a:gd name="connsiteX2" fmla="*/ 0 w 1635125"/>
                <a:gd name="connsiteY2" fmla="*/ 1590675 h 1590675"/>
                <a:gd name="connsiteX0" fmla="*/ 1635125 w 1635125"/>
                <a:gd name="connsiteY0" fmla="*/ 0 h 1590675"/>
                <a:gd name="connsiteX1" fmla="*/ 663575 w 1635125"/>
                <a:gd name="connsiteY1" fmla="*/ 730250 h 1590675"/>
                <a:gd name="connsiteX2" fmla="*/ 0 w 1635125"/>
                <a:gd name="connsiteY2" fmla="*/ 1590675 h 1590675"/>
                <a:gd name="connsiteX0" fmla="*/ 1197712 w 1197712"/>
                <a:gd name="connsiteY0" fmla="*/ 0 h 1298664"/>
                <a:gd name="connsiteX1" fmla="*/ 663575 w 1197712"/>
                <a:gd name="connsiteY1" fmla="*/ 438239 h 1298664"/>
                <a:gd name="connsiteX2" fmla="*/ 0 w 1197712"/>
                <a:gd name="connsiteY2" fmla="*/ 1298664 h 1298664"/>
                <a:gd name="connsiteX0" fmla="*/ 1197712 w 1197712"/>
                <a:gd name="connsiteY0" fmla="*/ 0 h 1298664"/>
                <a:gd name="connsiteX1" fmla="*/ 663575 w 1197712"/>
                <a:gd name="connsiteY1" fmla="*/ 438239 h 1298664"/>
                <a:gd name="connsiteX2" fmla="*/ 0 w 1197712"/>
                <a:gd name="connsiteY2" fmla="*/ 1298664 h 1298664"/>
                <a:gd name="connsiteX0" fmla="*/ 1002334 w 1002334"/>
                <a:gd name="connsiteY0" fmla="*/ 0 h 1028692"/>
                <a:gd name="connsiteX1" fmla="*/ 468197 w 1002334"/>
                <a:gd name="connsiteY1" fmla="*/ 438239 h 1028692"/>
                <a:gd name="connsiteX2" fmla="*/ 0 w 1002334"/>
                <a:gd name="connsiteY2" fmla="*/ 1028692 h 1028692"/>
                <a:gd name="connsiteX0" fmla="*/ 1002334 w 1002334"/>
                <a:gd name="connsiteY0" fmla="*/ 0 h 1028692"/>
                <a:gd name="connsiteX1" fmla="*/ 468197 w 1002334"/>
                <a:gd name="connsiteY1" fmla="*/ 438239 h 1028692"/>
                <a:gd name="connsiteX2" fmla="*/ 0 w 1002334"/>
                <a:gd name="connsiteY2" fmla="*/ 1028692 h 1028692"/>
                <a:gd name="connsiteX0" fmla="*/ 996502 w 996502"/>
                <a:gd name="connsiteY0" fmla="*/ 0 h 1012163"/>
                <a:gd name="connsiteX1" fmla="*/ 462365 w 996502"/>
                <a:gd name="connsiteY1" fmla="*/ 438239 h 1012163"/>
                <a:gd name="connsiteX2" fmla="*/ 0 w 996502"/>
                <a:gd name="connsiteY2" fmla="*/ 1012163 h 1012163"/>
                <a:gd name="connsiteX0" fmla="*/ 996502 w 996502"/>
                <a:gd name="connsiteY0" fmla="*/ 0 h 1012163"/>
                <a:gd name="connsiteX1" fmla="*/ 462365 w 996502"/>
                <a:gd name="connsiteY1" fmla="*/ 438239 h 1012163"/>
                <a:gd name="connsiteX2" fmla="*/ 0 w 996502"/>
                <a:gd name="connsiteY2" fmla="*/ 1012163 h 1012163"/>
                <a:gd name="connsiteX0" fmla="*/ 996502 w 996502"/>
                <a:gd name="connsiteY0" fmla="*/ 0 h 1012163"/>
                <a:gd name="connsiteX1" fmla="*/ 599421 w 996502"/>
                <a:gd name="connsiteY1" fmla="*/ 294989 h 1012163"/>
                <a:gd name="connsiteX2" fmla="*/ 0 w 996502"/>
                <a:gd name="connsiteY2" fmla="*/ 1012163 h 1012163"/>
                <a:gd name="connsiteX0" fmla="*/ 996502 w 996502"/>
                <a:gd name="connsiteY0" fmla="*/ 0 h 1012163"/>
                <a:gd name="connsiteX1" fmla="*/ 599421 w 996502"/>
                <a:gd name="connsiteY1" fmla="*/ 294989 h 1012163"/>
                <a:gd name="connsiteX2" fmla="*/ 0 w 996502"/>
                <a:gd name="connsiteY2" fmla="*/ 1012163 h 1012163"/>
                <a:gd name="connsiteX0" fmla="*/ 996502 w 996502"/>
                <a:gd name="connsiteY0" fmla="*/ 0 h 1012163"/>
                <a:gd name="connsiteX1" fmla="*/ 599421 w 996502"/>
                <a:gd name="connsiteY1" fmla="*/ 294989 h 1012163"/>
                <a:gd name="connsiteX2" fmla="*/ 0 w 996502"/>
                <a:gd name="connsiteY2" fmla="*/ 1012163 h 1012163"/>
                <a:gd name="connsiteX0" fmla="*/ 996502 w 996502"/>
                <a:gd name="connsiteY0" fmla="*/ 0 h 1012163"/>
                <a:gd name="connsiteX1" fmla="*/ 599421 w 996502"/>
                <a:gd name="connsiteY1" fmla="*/ 294989 h 1012163"/>
                <a:gd name="connsiteX2" fmla="*/ 0 w 996502"/>
                <a:gd name="connsiteY2" fmla="*/ 1012163 h 1012163"/>
                <a:gd name="connsiteX0" fmla="*/ 996502 w 996502"/>
                <a:gd name="connsiteY0" fmla="*/ 0 h 1012163"/>
                <a:gd name="connsiteX1" fmla="*/ 599421 w 996502"/>
                <a:gd name="connsiteY1" fmla="*/ 294989 h 1012163"/>
                <a:gd name="connsiteX2" fmla="*/ 0 w 996502"/>
                <a:gd name="connsiteY2" fmla="*/ 1012163 h 1012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6502" h="1012163">
                  <a:moveTo>
                    <a:pt x="996502" y="0"/>
                  </a:moveTo>
                  <a:cubicBezTo>
                    <a:pt x="854904" y="91202"/>
                    <a:pt x="702798" y="193375"/>
                    <a:pt x="599421" y="294989"/>
                  </a:cubicBezTo>
                  <a:cubicBezTo>
                    <a:pt x="496044" y="396603"/>
                    <a:pt x="238824" y="688811"/>
                    <a:pt x="0" y="1012163"/>
                  </a:cubicBezTo>
                </a:path>
              </a:pathLst>
            </a:custGeom>
            <a:ln w="19050">
              <a:solidFill>
                <a:srgbClr val="FE8E01"/>
              </a:solidFill>
              <a:prstDash val="sysDot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A6DD218-A807-B6E5-DACB-BE8AC9D676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0173" y="885999"/>
              <a:ext cx="1478228" cy="1502461"/>
            </a:xfrm>
            <a:prstGeom prst="straightConnector1">
              <a:avLst/>
            </a:prstGeom>
            <a:ln w="19050">
              <a:solidFill>
                <a:srgbClr val="FE8E0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E369646-DD41-8028-DD12-09B88ED625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30091" y="1753264"/>
              <a:ext cx="790951" cy="635196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DC4FB1E6-31BB-404F-0BA1-E82F49949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1958" y="775825"/>
            <a:ext cx="2612502" cy="2508311"/>
          </a:xfrm>
          <a:prstGeom prst="rect">
            <a:avLst/>
          </a:prstGeom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2209491-1498-EE88-F779-7C7306874C30}"/>
              </a:ext>
            </a:extLst>
          </p:cNvPr>
          <p:cNvSpPr/>
          <p:nvPr/>
        </p:nvSpPr>
        <p:spPr>
          <a:xfrm>
            <a:off x="8392996" y="4821238"/>
            <a:ext cx="3492381" cy="130341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A44C6D-F063-AF0C-DF29-00447CD3A0E3}"/>
              </a:ext>
            </a:extLst>
          </p:cNvPr>
          <p:cNvSpPr txBox="1"/>
          <p:nvPr/>
        </p:nvSpPr>
        <p:spPr>
          <a:xfrm>
            <a:off x="8601259" y="5057445"/>
            <a:ext cx="3075854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What is threading through the holes for suspension? Rods? Ropes?</a:t>
            </a:r>
          </a:p>
        </p:txBody>
      </p:sp>
    </p:spTree>
    <p:extLst>
      <p:ext uri="{BB962C8B-B14F-4D97-AF65-F5344CB8AC3E}">
        <p14:creationId xmlns:p14="http://schemas.microsoft.com/office/powerpoint/2010/main" val="3246198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BAF2-91CA-DFAE-09D1-6CD43EA92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Stiffening and suspension of cones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F7B6AC-E96C-C518-4887-8562164CB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74" r="82903"/>
          <a:stretch/>
        </p:blipFill>
        <p:spPr>
          <a:xfrm>
            <a:off x="6908800" y="1862160"/>
            <a:ext cx="2927351" cy="30317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A6CAAD-AA73-F689-EF47-C4BA4E7D1620}"/>
              </a:ext>
            </a:extLst>
          </p:cNvPr>
          <p:cNvSpPr/>
          <p:nvPr/>
        </p:nvSpPr>
        <p:spPr>
          <a:xfrm>
            <a:off x="8680451" y="2316986"/>
            <a:ext cx="146050" cy="5595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9D57F2-29BB-E86F-92A0-DE06F6EE2FED}"/>
              </a:ext>
            </a:extLst>
          </p:cNvPr>
          <p:cNvSpPr/>
          <p:nvPr/>
        </p:nvSpPr>
        <p:spPr>
          <a:xfrm>
            <a:off x="8680451" y="4306064"/>
            <a:ext cx="146050" cy="838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C40E6-D003-73EB-F4F6-7FACF3033F5C}"/>
              </a:ext>
            </a:extLst>
          </p:cNvPr>
          <p:cNvSpPr txBox="1"/>
          <p:nvPr/>
        </p:nvSpPr>
        <p:spPr>
          <a:xfrm>
            <a:off x="8026863" y="1812574"/>
            <a:ext cx="143417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itchFamily="2" charset="0"/>
              </a:rPr>
              <a:t>Suspension 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905-3F3F-A5B7-6621-3766133D6C45}"/>
              </a:ext>
            </a:extLst>
          </p:cNvPr>
          <p:cNvSpPr txBox="1"/>
          <p:nvPr/>
        </p:nvSpPr>
        <p:spPr>
          <a:xfrm>
            <a:off x="8026863" y="5373390"/>
            <a:ext cx="143417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itchFamily="2" charset="0"/>
              </a:rPr>
              <a:t>Suspension point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CC058E-1F0C-E429-FF13-F6954CE9B140}"/>
              </a:ext>
            </a:extLst>
          </p:cNvPr>
          <p:cNvSpPr/>
          <p:nvPr/>
        </p:nvSpPr>
        <p:spPr>
          <a:xfrm>
            <a:off x="6972301" y="3098258"/>
            <a:ext cx="146050" cy="5595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5130D0-D1DB-38D4-0950-BC2B6CFA518C}"/>
              </a:ext>
            </a:extLst>
          </p:cNvPr>
          <p:cNvSpPr txBox="1"/>
          <p:nvPr/>
        </p:nvSpPr>
        <p:spPr>
          <a:xfrm>
            <a:off x="5436756" y="3147207"/>
            <a:ext cx="1434176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itchFamily="2" charset="0"/>
              </a:rPr>
              <a:t>Another suspension point?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7FB03F-C1F9-A8C9-D178-342285B26397}"/>
              </a:ext>
            </a:extLst>
          </p:cNvPr>
          <p:cNvSpPr/>
          <p:nvPr/>
        </p:nvSpPr>
        <p:spPr>
          <a:xfrm>
            <a:off x="7714574" y="2635250"/>
            <a:ext cx="146050" cy="148612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1F8926-8B60-D235-69B9-4DD4EB3149FD}"/>
              </a:ext>
            </a:extLst>
          </p:cNvPr>
          <p:cNvSpPr txBox="1"/>
          <p:nvPr/>
        </p:nvSpPr>
        <p:spPr>
          <a:xfrm>
            <a:off x="6882956" y="2190808"/>
            <a:ext cx="143417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Helvetica" pitchFamily="2" charset="0"/>
              </a:rPr>
              <a:t>Stiffening ring?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F2D867-34F6-C686-A018-93AFCA40DC80}"/>
              </a:ext>
            </a:extLst>
          </p:cNvPr>
          <p:cNvSpPr/>
          <p:nvPr/>
        </p:nvSpPr>
        <p:spPr>
          <a:xfrm>
            <a:off x="553265" y="2399610"/>
            <a:ext cx="4493865" cy="16268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8C345-EFB7-6745-6ABC-AD1C29B49751}"/>
              </a:ext>
            </a:extLst>
          </p:cNvPr>
          <p:cNvSpPr txBox="1"/>
          <p:nvPr/>
        </p:nvSpPr>
        <p:spPr>
          <a:xfrm>
            <a:off x="821250" y="2656460"/>
            <a:ext cx="3957894" cy="111312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Is the stiffening ring needed?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Do we need suspension on the cone outside of the cylinder/cone join?</a:t>
            </a:r>
          </a:p>
        </p:txBody>
      </p:sp>
    </p:spTree>
    <p:extLst>
      <p:ext uri="{BB962C8B-B14F-4D97-AF65-F5344CB8AC3E}">
        <p14:creationId xmlns:p14="http://schemas.microsoft.com/office/powerpoint/2010/main" val="3086403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9DE7-2851-4EB0-9EDC-CEC6E32C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segments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FBEB-ADDB-9ECC-6DAC-A9233A9BF1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3994" y="1409700"/>
            <a:ext cx="11345492" cy="5224640"/>
          </a:xfrm>
        </p:spPr>
        <p:txBody>
          <a:bodyPr>
            <a:normAutofit/>
          </a:bodyPr>
          <a:lstStyle/>
          <a:p>
            <a:r>
              <a:rPr lang="en-US" sz="1600" dirty="0"/>
              <a:t>Indium seal</a:t>
            </a:r>
          </a:p>
          <a:p>
            <a:r>
              <a:rPr lang="en-US" sz="1600" dirty="0"/>
              <a:t>Stability under thermal cycling</a:t>
            </a:r>
          </a:p>
          <a:p>
            <a:pPr lvl="1"/>
            <a:r>
              <a:rPr lang="en-US" sz="1600" dirty="0"/>
              <a:t>Anticipate 3*8 = 24 full thermal cycles from </a:t>
            </a:r>
            <a:r>
              <a:rPr lang="en-US" sz="1600" dirty="0" err="1"/>
              <a:t>cryo</a:t>
            </a:r>
            <a:r>
              <a:rPr lang="en-US" sz="1600" dirty="0"/>
              <a:t> to room temp over lifetime</a:t>
            </a:r>
          </a:p>
          <a:p>
            <a:pPr lvl="1"/>
            <a:r>
              <a:rPr lang="en-US" sz="1600" dirty="0"/>
              <a:t>ORNL has not had issues with cycling indium seals (testing limited to &lt;20 cycles)</a:t>
            </a:r>
          </a:p>
          <a:p>
            <a:r>
              <a:rPr lang="en-US" sz="1600" dirty="0"/>
              <a:t>Diffusion of indium in copper-based alloy</a:t>
            </a:r>
          </a:p>
          <a:p>
            <a:pPr lvl="1"/>
            <a:r>
              <a:rPr lang="en-US" sz="1600" dirty="0"/>
              <a:t>May need vacuum grease</a:t>
            </a:r>
          </a:p>
          <a:p>
            <a:r>
              <a:rPr lang="en-US" sz="1600" dirty="0"/>
              <a:t>Ensuring alignment for indium</a:t>
            </a:r>
          </a:p>
          <a:p>
            <a:r>
              <a:rPr lang="en-US" sz="1600" dirty="0"/>
              <a:t>Indium type I superconductor -&gt; Tc ~ 3.4 K, </a:t>
            </a:r>
            <a:r>
              <a:rPr lang="en-US" sz="1600" dirty="0" err="1"/>
              <a:t>Bc</a:t>
            </a:r>
            <a:r>
              <a:rPr lang="en-US" sz="1600" dirty="0"/>
              <a:t> ~ 30 </a:t>
            </a:r>
            <a:r>
              <a:rPr lang="en-US" sz="1600" dirty="0" err="1"/>
              <a:t>mT</a:t>
            </a:r>
            <a:endParaRPr lang="en-US" sz="1600" dirty="0"/>
          </a:p>
          <a:p>
            <a:pPr lvl="1"/>
            <a:r>
              <a:rPr lang="en-US" sz="1600" dirty="0"/>
              <a:t>Not a concern</a:t>
            </a:r>
          </a:p>
          <a:p>
            <a:endParaRPr lang="en-US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DF7440-1883-1781-F4BE-CBDA4465B8F5}"/>
              </a:ext>
            </a:extLst>
          </p:cNvPr>
          <p:cNvSpPr/>
          <p:nvPr/>
        </p:nvSpPr>
        <p:spPr>
          <a:xfrm>
            <a:off x="6444944" y="409097"/>
            <a:ext cx="4493865" cy="18653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6FD6C-661F-47FB-DA7A-9431E8A9D0A9}"/>
              </a:ext>
            </a:extLst>
          </p:cNvPr>
          <p:cNvSpPr txBox="1"/>
          <p:nvPr/>
        </p:nvSpPr>
        <p:spPr>
          <a:xfrm>
            <a:off x="6712929" y="644158"/>
            <a:ext cx="3957894" cy="13952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Thermal stability?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Compatibility with copper-based alloys?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Alignment? (rotational + for seal)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513BB8-C174-40EF-045A-4E6D4A0432F6}"/>
              </a:ext>
            </a:extLst>
          </p:cNvPr>
          <p:cNvGrpSpPr/>
          <p:nvPr/>
        </p:nvGrpSpPr>
        <p:grpSpPr>
          <a:xfrm>
            <a:off x="7567429" y="3792415"/>
            <a:ext cx="3371380" cy="2831444"/>
            <a:chOff x="6364295" y="3718736"/>
            <a:chExt cx="3371380" cy="283144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168FE04-271C-DC7D-B4A9-29027E295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4295" y="3995735"/>
              <a:ext cx="3371380" cy="255444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0031A1-9306-4F61-73CB-10EA6BE75945}"/>
                </a:ext>
              </a:extLst>
            </p:cNvPr>
            <p:cNvSpPr txBox="1"/>
            <p:nvPr/>
          </p:nvSpPr>
          <p:spPr>
            <a:xfrm>
              <a:off x="8371689" y="5042125"/>
              <a:ext cx="1178170" cy="46166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200" dirty="0">
                  <a:effectLst/>
                  <a:latin typeface="Helvetica" pitchFamily="2" charset="0"/>
                </a:rPr>
                <a:t>Indium wire</a:t>
              </a:r>
            </a:p>
            <a:p>
              <a:pPr algn="ctr"/>
              <a:r>
                <a:rPr lang="en-US" sz="1200" dirty="0">
                  <a:latin typeface="Helvetica" pitchFamily="2" charset="0"/>
                </a:rPr>
                <a:t>(pre-deformation)</a:t>
              </a:r>
              <a:endParaRPr lang="en-US" sz="1200" dirty="0">
                <a:effectLst/>
                <a:latin typeface="Helvetica" pitchFamily="2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0D779C-58AC-4F68-7A83-99EDF81FAEB5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8195843" y="5272958"/>
              <a:ext cx="175846" cy="240718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B23EAA-8A40-8876-BC95-8A4D598F9CB1}"/>
                </a:ext>
              </a:extLst>
            </p:cNvPr>
            <p:cNvSpPr txBox="1"/>
            <p:nvPr/>
          </p:nvSpPr>
          <p:spPr>
            <a:xfrm>
              <a:off x="6876806" y="5101260"/>
              <a:ext cx="898650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200" dirty="0" err="1">
                  <a:effectLst/>
                  <a:latin typeface="Helvetica" pitchFamily="2" charset="0"/>
                </a:rPr>
                <a:t>Ioffe</a:t>
              </a:r>
              <a:r>
                <a:rPr lang="en-US" sz="1200" dirty="0">
                  <a:effectLst/>
                  <a:latin typeface="Helvetica" pitchFamily="2" charset="0"/>
                </a:rPr>
                <a:t> former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FC0AD9-9CB6-CA3E-F8F9-3620B5AF9770}"/>
                </a:ext>
              </a:extLst>
            </p:cNvPr>
            <p:cNvSpPr txBox="1"/>
            <p:nvPr/>
          </p:nvSpPr>
          <p:spPr>
            <a:xfrm>
              <a:off x="6965120" y="3718736"/>
              <a:ext cx="2412344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200" dirty="0">
                  <a:effectLst/>
                  <a:latin typeface="Helvetica" pitchFamily="2" charset="0"/>
                </a:rPr>
                <a:t>Reworked suspension/joining rings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550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331B-3043-37C1-22F3-D2F276AC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Misc. Fabrication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6C671F-11C8-D2F8-AABB-DDD6D19BCE74}"/>
              </a:ext>
            </a:extLst>
          </p:cNvPr>
          <p:cNvSpPr/>
          <p:nvPr/>
        </p:nvSpPr>
        <p:spPr>
          <a:xfrm>
            <a:off x="3517327" y="2496311"/>
            <a:ext cx="4493865" cy="201421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4A6E0-11B5-2EF8-CC0B-09F6766EB772}"/>
              </a:ext>
            </a:extLst>
          </p:cNvPr>
          <p:cNvSpPr txBox="1"/>
          <p:nvPr/>
        </p:nvSpPr>
        <p:spPr>
          <a:xfrm>
            <a:off x="3785312" y="2731372"/>
            <a:ext cx="3957894" cy="16414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Roundness of cavity?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Centrifugal casting? Seam welding sheet and hot rolling?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Cost?</a:t>
            </a:r>
          </a:p>
        </p:txBody>
      </p:sp>
    </p:spTree>
    <p:extLst>
      <p:ext uri="{BB962C8B-B14F-4D97-AF65-F5344CB8AC3E}">
        <p14:creationId xmlns:p14="http://schemas.microsoft.com/office/powerpoint/2010/main" val="3068008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331B-3043-37C1-22F3-D2F276AC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Conductor choice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6C671F-11C8-D2F8-AABB-DDD6D19BCE74}"/>
              </a:ext>
            </a:extLst>
          </p:cNvPr>
          <p:cNvSpPr/>
          <p:nvPr/>
        </p:nvSpPr>
        <p:spPr>
          <a:xfrm>
            <a:off x="5139230" y="3006938"/>
            <a:ext cx="2396464" cy="8441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4A6E0-11B5-2EF8-CC0B-09F6766EB772}"/>
              </a:ext>
            </a:extLst>
          </p:cNvPr>
          <p:cNvSpPr txBox="1"/>
          <p:nvPr/>
        </p:nvSpPr>
        <p:spPr>
          <a:xfrm>
            <a:off x="5417516" y="3259722"/>
            <a:ext cx="183989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Cost estimate?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0AF87-126F-A22D-72E4-EDE7F54B49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3994" y="1409701"/>
            <a:ext cx="11345492" cy="1043353"/>
          </a:xfrm>
        </p:spPr>
        <p:txBody>
          <a:bodyPr>
            <a:normAutofit/>
          </a:bodyPr>
          <a:lstStyle/>
          <a:p>
            <a:r>
              <a:rPr lang="en-US" sz="1600" dirty="0" err="1"/>
              <a:t>NbTi</a:t>
            </a:r>
            <a:r>
              <a:rPr lang="en-US" sz="1600" dirty="0"/>
              <a:t>/Cu</a:t>
            </a:r>
          </a:p>
          <a:p>
            <a:r>
              <a:rPr lang="en-US" sz="1600" dirty="0"/>
              <a:t>Standard 1.3 mm OD MRI cable, 3.2:1 </a:t>
            </a:r>
            <a:r>
              <a:rPr lang="en-US" sz="1600" dirty="0" err="1"/>
              <a:t>Cu:SC</a:t>
            </a:r>
            <a:r>
              <a:rPr lang="en-US" sz="1600" dirty="0"/>
              <a:t> ratio</a:t>
            </a:r>
          </a:p>
        </p:txBody>
      </p:sp>
    </p:spTree>
    <p:extLst>
      <p:ext uri="{BB962C8B-B14F-4D97-AF65-F5344CB8AC3E}">
        <p14:creationId xmlns:p14="http://schemas.microsoft.com/office/powerpoint/2010/main" val="1367215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331B-3043-37C1-22F3-D2F276AC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requirements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6C671F-11C8-D2F8-AABB-DDD6D19BCE74}"/>
              </a:ext>
            </a:extLst>
          </p:cNvPr>
          <p:cNvSpPr/>
          <p:nvPr/>
        </p:nvSpPr>
        <p:spPr>
          <a:xfrm>
            <a:off x="4024913" y="4000774"/>
            <a:ext cx="4493865" cy="15471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4A6E0-11B5-2EF8-CC0B-09F6766EB772}"/>
              </a:ext>
            </a:extLst>
          </p:cNvPr>
          <p:cNvSpPr txBox="1"/>
          <p:nvPr/>
        </p:nvSpPr>
        <p:spPr>
          <a:xfrm>
            <a:off x="4292898" y="4235752"/>
            <a:ext cx="3957894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If we change these requirements to some resolution and efficiency for CRES, how do we quickly verify that our design meets requirements?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0AF87-126F-A22D-72E4-EDE7F54B49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3994" y="1409701"/>
            <a:ext cx="11345492" cy="2089150"/>
          </a:xfrm>
        </p:spPr>
        <p:txBody>
          <a:bodyPr>
            <a:normAutofit/>
          </a:bodyPr>
          <a:lstStyle/>
          <a:p>
            <a:r>
              <a:rPr lang="en-US" sz="1600" dirty="0"/>
              <a:t>Azimuthal variation: &lt; 0.1 ppm of background field</a:t>
            </a:r>
          </a:p>
          <a:p>
            <a:pPr lvl="1"/>
            <a:r>
              <a:rPr lang="en-US" sz="1600" dirty="0"/>
              <a:t>Defining as: (range of |</a:t>
            </a:r>
            <a:r>
              <a:rPr lang="en-US" sz="1600" b="1" dirty="0"/>
              <a:t>B</a:t>
            </a:r>
            <a:r>
              <a:rPr lang="en-US" sz="1600" dirty="0"/>
              <a:t>(φ, fixed r) – </a:t>
            </a:r>
            <a:r>
              <a:rPr lang="en-US" sz="1600" b="1" dirty="0" err="1"/>
              <a:t>B</a:t>
            </a:r>
            <a:r>
              <a:rPr lang="en-US" sz="1600" baseline="-25000" dirty="0" err="1"/>
              <a:t>background</a:t>
            </a:r>
            <a:r>
              <a:rPr lang="en-US" sz="1600" dirty="0"/>
              <a:t>|) / |</a:t>
            </a:r>
            <a:r>
              <a:rPr lang="en-US" sz="1600" b="1" dirty="0" err="1"/>
              <a:t>B</a:t>
            </a:r>
            <a:r>
              <a:rPr lang="en-US" sz="1600" baseline="-25000" dirty="0" err="1"/>
              <a:t>background</a:t>
            </a:r>
            <a:r>
              <a:rPr lang="en-US" sz="1600" dirty="0"/>
              <a:t>|</a:t>
            </a:r>
          </a:p>
          <a:p>
            <a:r>
              <a:rPr lang="en-US" sz="1600" dirty="0"/>
              <a:t>Radial variation: &lt; 1 ppm of background field</a:t>
            </a:r>
          </a:p>
          <a:p>
            <a:pPr lvl="1"/>
            <a:r>
              <a:rPr lang="en-US" sz="1600" dirty="0"/>
              <a:t>Defining as: |</a:t>
            </a:r>
            <a:r>
              <a:rPr lang="en-US" sz="1600" b="1" dirty="0"/>
              <a:t>B</a:t>
            </a:r>
            <a:r>
              <a:rPr lang="en-US" sz="1600" dirty="0"/>
              <a:t>(fixed φ, r) – </a:t>
            </a:r>
            <a:r>
              <a:rPr lang="en-US" sz="1600" b="1" dirty="0" err="1"/>
              <a:t>B</a:t>
            </a:r>
            <a:r>
              <a:rPr lang="en-US" sz="1600" baseline="-25000" dirty="0" err="1"/>
              <a:t>background</a:t>
            </a:r>
            <a:r>
              <a:rPr lang="en-US" sz="1600" dirty="0"/>
              <a:t>| / |</a:t>
            </a:r>
            <a:r>
              <a:rPr lang="en-US" sz="1600" b="1" dirty="0" err="1"/>
              <a:t>B</a:t>
            </a:r>
            <a:r>
              <a:rPr lang="en-US" sz="1600" baseline="-25000" dirty="0" err="1"/>
              <a:t>background</a:t>
            </a:r>
            <a:r>
              <a:rPr lang="en-US" sz="1600" dirty="0"/>
              <a:t>|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3A542-759F-B851-579D-E704F32607F7}"/>
              </a:ext>
            </a:extLst>
          </p:cNvPr>
          <p:cNvSpPr txBox="1"/>
          <p:nvPr/>
        </p:nvSpPr>
        <p:spPr>
          <a:xfrm>
            <a:off x="7606708" y="151899"/>
            <a:ext cx="4425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/>
              <a:t>background field = (0, 0, 20) </a:t>
            </a:r>
            <a:r>
              <a:rPr lang="en-US" sz="1800" dirty="0" err="1"/>
              <a:t>mT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414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331B-3043-37C1-22F3-D2F276AC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2" y="223660"/>
            <a:ext cx="4028199" cy="810991"/>
          </a:xfrm>
        </p:spPr>
        <p:txBody>
          <a:bodyPr>
            <a:normAutofit/>
          </a:bodyPr>
          <a:lstStyle/>
          <a:p>
            <a:r>
              <a:rPr lang="en-US" dirty="0"/>
              <a:t>Benchmarking field calculation accuracy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EE32935-CF29-ECD2-B4B7-E2DDBBDC03DD}"/>
              </a:ext>
            </a:extLst>
          </p:cNvPr>
          <p:cNvSpPr txBox="1">
            <a:spLocks/>
          </p:cNvSpPr>
          <p:nvPr/>
        </p:nvSpPr>
        <p:spPr>
          <a:xfrm>
            <a:off x="420710" y="1317938"/>
            <a:ext cx="11248775" cy="48571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80975" indent="-18097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087438" indent="-173038" algn="l" defTabSz="9144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54163" indent="-182563" algn="l" defTabSz="9144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08188" indent="-179388" algn="l" defTabSz="9144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Concern: need ppm level field accuracy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1ppm of 20mT: ~1e-8T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Most codes: ~ earth magnetic field (~50uT)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Approaches: FEA and </a:t>
            </a:r>
            <a:r>
              <a:rPr lang="en-US" sz="1600" dirty="0" err="1"/>
              <a:t>Biot</a:t>
            </a:r>
            <a:r>
              <a:rPr lang="en-US" sz="1600" dirty="0"/>
              <a:t>-Savart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RAT (</a:t>
            </a:r>
            <a:r>
              <a:rPr lang="en-US" sz="1600" dirty="0" err="1"/>
              <a:t>Biot</a:t>
            </a:r>
            <a:r>
              <a:rPr lang="en-US" sz="1600" dirty="0"/>
              <a:t>-Savart)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COMSOL (FEA)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Opera (</a:t>
            </a:r>
            <a:r>
              <a:rPr lang="en-US" sz="1600" dirty="0" err="1"/>
              <a:t>Biot</a:t>
            </a:r>
            <a:r>
              <a:rPr lang="en-US" sz="1600" dirty="0"/>
              <a:t>-Savart/FEA)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FEA: very small numerical error budget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Need very dense mesh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Need large model space (air boundary)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 err="1"/>
              <a:t>Biot</a:t>
            </a:r>
            <a:r>
              <a:rPr lang="en-US" sz="1600" dirty="0"/>
              <a:t>-Savart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Easy for straight lines, hard for curvature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58143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331B-3043-37C1-22F3-D2F276AC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2" y="223660"/>
            <a:ext cx="4028199" cy="810991"/>
          </a:xfrm>
        </p:spPr>
        <p:txBody>
          <a:bodyPr>
            <a:normAutofit/>
          </a:bodyPr>
          <a:lstStyle/>
          <a:p>
            <a:r>
              <a:rPr lang="en-US" dirty="0"/>
              <a:t>Test case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EE32935-CF29-ECD2-B4B7-E2DDBBDC03DD}"/>
              </a:ext>
            </a:extLst>
          </p:cNvPr>
          <p:cNvSpPr txBox="1">
            <a:spLocks/>
          </p:cNvSpPr>
          <p:nvPr/>
        </p:nvSpPr>
        <p:spPr>
          <a:xfrm>
            <a:off x="420710" y="1317938"/>
            <a:ext cx="11248775" cy="48571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80975" indent="-18097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087438" indent="-173038" algn="l" defTabSz="9144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54163" indent="-182563" algn="l" defTabSz="9144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08188" indent="-179388" algn="l" defTabSz="914400" rtl="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2100" b="0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Simple benchmark: infinitely long straight conductor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Can calculate this analytically (B=µ</a:t>
            </a:r>
            <a:r>
              <a:rPr lang="en-US" sz="1600" baseline="-25000" dirty="0"/>
              <a:t>0</a:t>
            </a:r>
            <a:r>
              <a:rPr lang="en-US" sz="1600" dirty="0"/>
              <a:t>I/(2</a:t>
            </a:r>
            <a:r>
              <a:rPr lang="el-GR" sz="1600" dirty="0"/>
              <a:t>π</a:t>
            </a:r>
            <a:r>
              <a:rPr lang="en-US" sz="1600" dirty="0"/>
              <a:t>r))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COMSOL 2D FEA (solves for A</a:t>
            </a:r>
            <a:r>
              <a:rPr lang="en-US" sz="1600" baseline="-25000" dirty="0"/>
              <a:t>z</a:t>
            </a:r>
            <a:r>
              <a:rPr lang="en-US" sz="1600" dirty="0"/>
              <a:t>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Opera: </a:t>
            </a:r>
            <a:r>
              <a:rPr lang="en-US" sz="1600" dirty="0" err="1"/>
              <a:t>Biot</a:t>
            </a:r>
            <a:r>
              <a:rPr lang="en-US" sz="1600" dirty="0"/>
              <a:t>-Savart/FEA </a:t>
            </a:r>
          </a:p>
          <a:p>
            <a:pPr lvl="2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Opera: different FEA implementation (solves for scalar potential)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RAT: MLFMM/CUDA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COMSOL: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dirty="0"/>
              <a:t>R = 15 m background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dirty="0">
                <a:latin typeface="Helvetica" pitchFamily="2" charset="0"/>
              </a:rPr>
              <a:t>~2M DOF, 20 min to solve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>
                <a:latin typeface="Helvetica" pitchFamily="2" charset="0"/>
              </a:rPr>
              <a:t>Opera: issues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dirty="0">
                <a:latin typeface="Helvetica" pitchFamily="2" charset="0"/>
              </a:rPr>
              <a:t>Adaptive integral for conductors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1600" dirty="0">
                <a:latin typeface="Helvetica" pitchFamily="2" charset="0"/>
              </a:rPr>
              <a:t>Issues with tolerance setting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2DFC27-10B0-0254-573E-730A468E7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755" y="3843186"/>
            <a:ext cx="3041373" cy="2166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40D6E3-D025-E122-3565-C3EECFA81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089" y="3897132"/>
            <a:ext cx="3137141" cy="2113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271C7E-732C-C542-2193-2D8915748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503" y="629155"/>
            <a:ext cx="4690727" cy="2293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B7CD2F-569E-42B3-C316-75968D311780}"/>
              </a:ext>
            </a:extLst>
          </p:cNvPr>
          <p:cNvSpPr txBox="1"/>
          <p:nvPr/>
        </p:nvSpPr>
        <p:spPr>
          <a:xfrm>
            <a:off x="9784498" y="2922568"/>
            <a:ext cx="220573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effectLst/>
                <a:latin typeface="Helvetica" pitchFamily="2" charset="0"/>
              </a:rPr>
              <a:t>Opera 3D: 400m long</a:t>
            </a:r>
          </a:p>
        </p:txBody>
      </p:sp>
    </p:spTree>
    <p:extLst>
      <p:ext uri="{BB962C8B-B14F-4D97-AF65-F5344CB8AC3E}">
        <p14:creationId xmlns:p14="http://schemas.microsoft.com/office/powerpoint/2010/main" val="4173773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331B-3043-37C1-22F3-D2F276AC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2" y="223660"/>
            <a:ext cx="4028199" cy="810991"/>
          </a:xfrm>
        </p:spPr>
        <p:txBody>
          <a:bodyPr>
            <a:normAutofit/>
          </a:bodyPr>
          <a:lstStyle/>
          <a:p>
            <a:r>
              <a:rPr lang="en-US" dirty="0"/>
              <a:t>Test case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64E0A28-77A5-9B62-8CF5-DBC8C342524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5549" t="7638" r="7607" b="3144"/>
          <a:stretch>
            <a:fillRect/>
          </a:stretch>
        </p:blipFill>
        <p:spPr>
          <a:xfrm>
            <a:off x="1379130" y="1239008"/>
            <a:ext cx="8468915" cy="5165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FCB536-8075-7A48-C0B0-4ED7EC88C7B9}"/>
              </a:ext>
            </a:extLst>
          </p:cNvPr>
          <p:cNvSpPr txBox="1"/>
          <p:nvPr/>
        </p:nvSpPr>
        <p:spPr>
          <a:xfrm>
            <a:off x="5613587" y="4052553"/>
            <a:ext cx="2743200" cy="17543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>
                <a:effectLst/>
                <a:latin typeface="Helvetica" pitchFamily="2" charset="0"/>
              </a:rPr>
              <a:t>Good agreement COMSOL 2D and analytic</a:t>
            </a:r>
          </a:p>
          <a:p>
            <a:pPr algn="l"/>
            <a:endParaRPr lang="en-US" dirty="0">
              <a:latin typeface="Helvetica" pitchFamily="2" charset="0"/>
            </a:endParaRPr>
          </a:p>
          <a:p>
            <a:pPr algn="l"/>
            <a:r>
              <a:rPr lang="en-US" dirty="0">
                <a:effectLst/>
                <a:latin typeface="Helvetica" pitchFamily="2" charset="0"/>
              </a:rPr>
              <a:t>Opera/RAT: good agreement with some/major tweaks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723C82-248E-ECA2-8D4F-C698CFB2539F}"/>
              </a:ext>
            </a:extLst>
          </p:cNvPr>
          <p:cNvSpPr/>
          <p:nvPr/>
        </p:nvSpPr>
        <p:spPr>
          <a:xfrm>
            <a:off x="8155689" y="453516"/>
            <a:ext cx="3712319" cy="711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5878A-15D1-04E2-7728-9B0D64D7B01E}"/>
              </a:ext>
            </a:extLst>
          </p:cNvPr>
          <p:cNvSpPr txBox="1"/>
          <p:nvPr/>
        </p:nvSpPr>
        <p:spPr>
          <a:xfrm>
            <a:off x="8434754" y="640190"/>
            <a:ext cx="315418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Extrapolating to COMSOL 3D?</a:t>
            </a:r>
          </a:p>
        </p:txBody>
      </p:sp>
    </p:spTree>
    <p:extLst>
      <p:ext uri="{BB962C8B-B14F-4D97-AF65-F5344CB8AC3E}">
        <p14:creationId xmlns:p14="http://schemas.microsoft.com/office/powerpoint/2010/main" val="2587037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D6D2A-0354-CBCA-AF7B-484D0421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uniformity estimates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854196-9D95-7628-B61F-D8E2A5A12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987" y="247267"/>
            <a:ext cx="8123354" cy="62777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5B37E5-5892-8C96-888B-32789D64DAF2}"/>
              </a:ext>
            </a:extLst>
          </p:cNvPr>
          <p:cNvSpPr txBox="1"/>
          <p:nvPr/>
        </p:nvSpPr>
        <p:spPr>
          <a:xfrm rot="16200000">
            <a:off x="11227287" y="4083256"/>
            <a:ext cx="912109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 err="1">
                <a:effectLst/>
                <a:latin typeface="Helvetica" pitchFamily="2" charset="0"/>
              </a:rPr>
              <a:t>σ</a:t>
            </a:r>
            <a:r>
              <a:rPr lang="en-US" baseline="-25000" dirty="0" err="1">
                <a:effectLst/>
                <a:latin typeface="Helvetica" pitchFamily="2" charset="0"/>
              </a:rPr>
              <a:t>B</a:t>
            </a:r>
            <a:r>
              <a:rPr lang="en-US" dirty="0">
                <a:effectLst/>
                <a:latin typeface="Helvetica" pitchFamily="2" charset="0"/>
              </a:rPr>
              <a:t> (ppm)</a:t>
            </a:r>
            <a:endParaRPr lang="en-US" baseline="-25000" dirty="0">
              <a:effectLst/>
              <a:latin typeface="Helvetica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FF41EE-4510-1A27-6257-26A6661AB426}"/>
              </a:ext>
            </a:extLst>
          </p:cNvPr>
          <p:cNvSpPr/>
          <p:nvPr/>
        </p:nvSpPr>
        <p:spPr>
          <a:xfrm>
            <a:off x="431927" y="1916817"/>
            <a:ext cx="3167616" cy="21826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B0F130-AEB5-AA1C-D406-39123A39B81C}"/>
              </a:ext>
            </a:extLst>
          </p:cNvPr>
          <p:cNvSpPr txBox="1"/>
          <p:nvPr/>
        </p:nvSpPr>
        <p:spPr>
          <a:xfrm>
            <a:off x="631499" y="2082262"/>
            <a:ext cx="2768473" cy="185178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Additional correction coils? Slightly different transition geometry? 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Adjusting current within individual layers? Unwieldy number of power sources?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38DC7-C9B0-6E03-8E59-0A10AC72776B}"/>
              </a:ext>
            </a:extLst>
          </p:cNvPr>
          <p:cNvSpPr txBox="1"/>
          <p:nvPr/>
        </p:nvSpPr>
        <p:spPr>
          <a:xfrm>
            <a:off x="431927" y="4541983"/>
            <a:ext cx="3167616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spcBef>
                <a:spcPts val="1000"/>
              </a:spcBef>
              <a:spcAft>
                <a:spcPts val="1200"/>
              </a:spcAft>
            </a:pPr>
            <a:r>
              <a:rPr lang="en-US" sz="1600" dirty="0">
                <a:latin typeface="Helvetica" pitchFamily="2" charset="0"/>
              </a:rPr>
              <a:t>Note: asymmetry around φ ~ 0° comes from starting coil near a turn; can be alleviated/become more realistic with adding in leads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ECA1F-6792-DA30-F5A7-82E05146ADFC}"/>
              </a:ext>
            </a:extLst>
          </p:cNvPr>
          <p:cNvSpPr txBox="1"/>
          <p:nvPr/>
        </p:nvSpPr>
        <p:spPr>
          <a:xfrm>
            <a:off x="10973467" y="5557449"/>
            <a:ext cx="34952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spcBef>
                <a:spcPts val="1000"/>
              </a:spcBef>
              <a:spcAft>
                <a:spcPts val="1200"/>
              </a:spcAft>
            </a:pPr>
            <a:r>
              <a:rPr lang="en-US" sz="1600" dirty="0">
                <a:latin typeface="Helvetica" pitchFamily="2" charset="0"/>
              </a:rPr>
              <a:t>&lt;1</a:t>
            </a:r>
          </a:p>
        </p:txBody>
      </p:sp>
    </p:spTree>
    <p:extLst>
      <p:ext uri="{BB962C8B-B14F-4D97-AF65-F5344CB8AC3E}">
        <p14:creationId xmlns:p14="http://schemas.microsoft.com/office/powerpoint/2010/main" val="1776400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331B-3043-37C1-22F3-D2F276AC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Misc. Magnetic Topics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6C671F-11C8-D2F8-AABB-DDD6D19BCE74}"/>
              </a:ext>
            </a:extLst>
          </p:cNvPr>
          <p:cNvSpPr/>
          <p:nvPr/>
        </p:nvSpPr>
        <p:spPr>
          <a:xfrm>
            <a:off x="3849066" y="2301521"/>
            <a:ext cx="4493865" cy="27807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4A6E0-11B5-2EF8-CC0B-09F6766EB772}"/>
              </a:ext>
            </a:extLst>
          </p:cNvPr>
          <p:cNvSpPr txBox="1"/>
          <p:nvPr/>
        </p:nvSpPr>
        <p:spPr>
          <a:xfrm>
            <a:off x="4117052" y="2606975"/>
            <a:ext cx="3957894" cy="216982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Can we run this in persistent mode?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Full development of quench protection?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Power source requirements?</a:t>
            </a:r>
          </a:p>
          <a:p>
            <a:pPr marL="182880" indent="-182880" algn="l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Allowed geometric tolerances on conductor placement?</a:t>
            </a:r>
          </a:p>
        </p:txBody>
      </p:sp>
    </p:spTree>
    <p:extLst>
      <p:ext uri="{BB962C8B-B14F-4D97-AF65-F5344CB8AC3E}">
        <p14:creationId xmlns:p14="http://schemas.microsoft.com/office/powerpoint/2010/main" val="215281066"/>
      </p:ext>
    </p:extLst>
  </p:cSld>
  <p:clrMapOvr>
    <a:masterClrMapping/>
  </p:clrMapOvr>
</p:sld>
</file>

<file path=ppt/theme/theme1.xml><?xml version="1.0" encoding="utf-8"?>
<a:theme xmlns:a="http://schemas.openxmlformats.org/drawingml/2006/main" name="Main Theme">
  <a:themeElements>
    <a:clrScheme name="MIT Brand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Custom 1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Custom 1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 – Red Text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Custom 1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hite – Gray Text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Custom 1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190627</TotalTime>
  <Words>1006</Words>
  <Application>Microsoft Office PowerPoint</Application>
  <PresentationFormat>Widescreen</PresentationFormat>
  <Paragraphs>178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Helvetica</vt:lpstr>
      <vt:lpstr>Main Theme</vt:lpstr>
      <vt:lpstr>Black</vt:lpstr>
      <vt:lpstr>White – Red Text</vt:lpstr>
      <vt:lpstr>White – Gray Text</vt:lpstr>
      <vt:lpstr>Ioffe Magnet</vt:lpstr>
      <vt:lpstr>Ioffe Overview</vt:lpstr>
      <vt:lpstr>Spatial envelope (full scale)</vt:lpstr>
      <vt:lpstr>Spatial envelope (prototype)</vt:lpstr>
      <vt:lpstr>Former material</vt:lpstr>
      <vt:lpstr>Stiffening of cylindrical segments</vt:lpstr>
      <vt:lpstr>Suspension of cylindrical segments</vt:lpstr>
      <vt:lpstr>Stiffening and suspension of cones</vt:lpstr>
      <vt:lpstr>Joining segments together</vt:lpstr>
      <vt:lpstr>Misc. Fabrication</vt:lpstr>
      <vt:lpstr>Conductor choice</vt:lpstr>
      <vt:lpstr>Field requirements</vt:lpstr>
      <vt:lpstr>Benchmarking field calculation accuracy</vt:lpstr>
      <vt:lpstr>Test case</vt:lpstr>
      <vt:lpstr>Test case</vt:lpstr>
      <vt:lpstr>Basic uniformity estimates</vt:lpstr>
      <vt:lpstr>Misc. Magnetic Topics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Opus 4</dc:creator>
  <cp:keywords/>
  <dc:description/>
  <cp:lastModifiedBy>Marisa Hocking</cp:lastModifiedBy>
  <cp:revision>1009</cp:revision>
  <dcterms:created xsi:type="dcterms:W3CDTF">2023-07-31T14:39:43Z</dcterms:created>
  <dcterms:modified xsi:type="dcterms:W3CDTF">2026-06-01T18:05:12Z</dcterms:modified>
  <cp:category/>
</cp:coreProperties>
</file>