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8" r:id="rId3"/>
    <p:sldId id="257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C6"/>
    <a:srgbClr val="FFE1A2"/>
    <a:srgbClr val="B31103"/>
    <a:srgbClr val="C71100"/>
    <a:srgbClr val="740D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54"/>
  </p:normalViewPr>
  <p:slideViewPr>
    <p:cSldViewPr snapToGrid="0">
      <p:cViewPr varScale="1">
        <p:scale>
          <a:sx n="99" d="100"/>
          <a:sy n="99" d="100"/>
        </p:scale>
        <p:origin x="7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876F-6847-946C-A1CD-2323F9CA1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A4A31-8FAA-8DBC-BBA8-6D20407CE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404B0-1E5E-04D9-3EFB-D533CBF6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BCA8-A605-6746-A8AD-2486C35A331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30C51-BE88-9017-345B-0E12521BD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BB57E-9137-D717-F8A9-58ED5156E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5147-A9EB-4544-AEAB-4E2051D5C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1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41AED-AB5F-F01F-7086-1B657B005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86BA2-B775-4844-14C1-470FB3DDD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3BBCA-8C33-67D2-7DEF-85F1A5D8B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BCA8-A605-6746-A8AD-2486C35A331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20DE1-31AD-2AE5-8F0E-345C58EC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2F15D-1552-355E-81E1-8B5751051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5147-A9EB-4544-AEAB-4E2051D5C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595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D0755-6C06-E388-23EA-6B861AA4C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A7458-7F2C-DD3C-4EBA-F374B5986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BF11F-A0CA-C417-F0C3-7EE282E15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BCA8-A605-6746-A8AD-2486C35A331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2D55A-31F0-891F-9AB9-A828ADA3C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1B9AA-784A-E20F-71C5-FC7A684E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5147-A9EB-4544-AEAB-4E2051D5C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509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0333B-C5F5-6AB4-53F8-227C61870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0543A-BD9D-556E-D018-0920556E5B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E525A-9C7D-01E3-ACAE-A39786C8C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F19AD-BA34-3B17-5E9B-58E9D515E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BCA8-A605-6746-A8AD-2486C35A331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90A64-68D3-9BF1-63AF-D9A1C17A2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D59A6D-0F36-48BE-235C-D5BAE95BB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5147-A9EB-4544-AEAB-4E2051D5C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881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299AA-5034-CDE9-C22E-7CD14BE1C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412A2-DB72-B2AD-6CEF-02E40710A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FFDD19-978A-3D33-4EE7-1DD3AAEC8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B740C4-75CA-0D34-10AA-A0C204D54A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29CB52-7D86-08E8-EB40-1D5503317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D40A84-629F-0B33-09E4-B0B9D6EF5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BCA8-A605-6746-A8AD-2486C35A331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25E80E-019D-27D1-7470-0357DE0C1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2585A9-90E7-4371-0251-830580629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5147-A9EB-4544-AEAB-4E2051D5C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826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97BD8-5FC1-27B4-E203-693B134DE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2F4CC7-B86C-0601-D29A-6D962F2EC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BCA8-A605-6746-A8AD-2486C35A331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F106D4-BBFD-A282-302D-F61ABB70B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3DDA69-9435-9CFD-F0AE-40E669FA4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5147-A9EB-4544-AEAB-4E2051D5C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704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2210B0-0250-1EFB-7339-085138386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BCA8-A605-6746-A8AD-2486C35A331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B4436D-90C4-1CFE-7E5E-8D5C5DBA2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2764B-FD3E-BFA0-2510-0DC1AD8BE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5147-A9EB-4544-AEAB-4E2051D5C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587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90C7-C88B-B722-F0B9-30E5D7C1B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C8021-045F-2C7B-A558-6FBE8D174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E99BF-2B8D-3353-B9E9-A0531F29EA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BF9D1C-4847-CE1D-837A-AB4FEF7B2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BCA8-A605-6746-A8AD-2486C35A331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12526-58BA-80E4-8A5E-9145B74C5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2F6D2-ECE7-28FD-0EB8-A967E8B06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5147-A9EB-4544-AEAB-4E2051D5C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245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DA187-FC28-A9E1-82D9-9DA711D9C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E55855-426D-FB78-C48C-CE9C970426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2E105B-C751-05F7-5C29-68C1565B4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49276-2516-7C84-9F25-2D9CFD26A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BCA8-A605-6746-A8AD-2486C35A331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73E30-7274-62F6-57EC-68BD9CFF9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E380C1-3A55-E41C-CE4F-1D05B13F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5147-A9EB-4544-AEAB-4E2051D5C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306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A8141-71EF-9AEF-5BEA-43402ECB0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5424D1-FC85-85FE-FA08-49442156F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52490-8052-373D-DF6C-4189D8EDF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BCA8-A605-6746-A8AD-2486C35A331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6C736-A4A0-73A2-429C-ACF364A84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E5894-146E-A10F-8132-4A9D8CAA4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5147-A9EB-4544-AEAB-4E2051D5C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52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FF4C6E-A628-F04E-C2B4-639CF28033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5F89CD-DF53-D574-ABB6-386854BD72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FD781-15DF-17A7-AA7D-0DFDB5F70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BCA8-A605-6746-A8AD-2486C35A331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9BF1B-90A7-FFBB-93ED-A93FD1553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FEAFD-AC93-8027-DD93-1D13CC3C7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5147-A9EB-4544-AEAB-4E2051D5C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42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F0A24F-71AB-5388-5C34-9310B5D8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5E4D3-D877-9E60-3522-35BBA16A6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6F32E-CA35-C250-F73F-CDFB760BB4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74BCA8-A605-6746-A8AD-2486C35A331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66977-A307-0917-78F2-4E0A5443E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5EEDC-34CC-D714-C9B2-1488837A8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A45147-A9EB-4544-AEAB-4E2051D5C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742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4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75BFB8-5A63-5DE0-98B6-C51BCE059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F6A3F4-E94A-E06A-B36C-3C749E60F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4948">
            <a:off x="191560" y="379032"/>
            <a:ext cx="3384829" cy="14487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2DCE5A-861C-97FB-CE96-CEBBD3100945}"/>
              </a:ext>
            </a:extLst>
          </p:cNvPr>
          <p:cNvSpPr txBox="1"/>
          <p:nvPr/>
        </p:nvSpPr>
        <p:spPr>
          <a:xfrm>
            <a:off x="2402173" y="1622153"/>
            <a:ext cx="7387654" cy="2123658"/>
          </a:xfrm>
          <a:prstGeom prst="rect">
            <a:avLst/>
          </a:prstGeom>
          <a:noFill/>
          <a:ln w="25400">
            <a:solidFill>
              <a:srgbClr val="B31103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>
                <a:solidFill>
                  <a:prstClr val="black"/>
                </a:solidFill>
                <a:latin typeface="Aptos Display" panose="02110004020202020204"/>
              </a:rPr>
              <a:t>Achieving Extreme B-field Uniformity by an Analysis of Corrective Coil Geometries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2F9466-AE1A-9601-31B4-EE126949DEB6}"/>
              </a:ext>
            </a:extLst>
          </p:cNvPr>
          <p:cNvSpPr txBox="1"/>
          <p:nvPr/>
        </p:nvSpPr>
        <p:spPr>
          <a:xfrm>
            <a:off x="3422672" y="4152276"/>
            <a:ext cx="53466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Jonah Seguine</a:t>
            </a:r>
          </a:p>
          <a:p>
            <a:pPr algn="ctr"/>
            <a:r>
              <a:rPr lang="en-US" dirty="0"/>
              <a:t>Advisors: Dr. Chris Crawford and Dr. Ryan MacLellan</a:t>
            </a:r>
          </a:p>
        </p:txBody>
      </p:sp>
    </p:spTree>
    <p:extLst>
      <p:ext uri="{BB962C8B-B14F-4D97-AF65-F5344CB8AC3E}">
        <p14:creationId xmlns:p14="http://schemas.microsoft.com/office/powerpoint/2010/main" val="3730693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4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D4F5CD-D344-1861-A3DE-0CC8515E0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637BB2-D84C-370C-8106-730D38288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4948">
            <a:off x="135409" y="270663"/>
            <a:ext cx="1628996" cy="69721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B7E7B69-8415-0F22-A564-7A47A9B5C6F6}"/>
              </a:ext>
            </a:extLst>
          </p:cNvPr>
          <p:cNvCxnSpPr>
            <a:cxnSpLocks/>
          </p:cNvCxnSpPr>
          <p:nvPr/>
        </p:nvCxnSpPr>
        <p:spPr>
          <a:xfrm>
            <a:off x="-225381" y="1236373"/>
            <a:ext cx="12642761" cy="0"/>
          </a:xfrm>
          <a:prstGeom prst="line">
            <a:avLst/>
          </a:prstGeom>
          <a:ln>
            <a:solidFill>
              <a:srgbClr val="B311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9E1297B-0071-1148-8032-68F2232CD28C}"/>
              </a:ext>
            </a:extLst>
          </p:cNvPr>
          <p:cNvSpPr txBox="1"/>
          <p:nvPr/>
        </p:nvSpPr>
        <p:spPr>
          <a:xfrm>
            <a:off x="2625775" y="296102"/>
            <a:ext cx="6940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Aptos Display" panose="02110004020202020204"/>
              </a:rPr>
              <a:t>Collaboration Overview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A3B2A6-0DA5-9416-FD83-4743350F36F0}"/>
              </a:ext>
            </a:extLst>
          </p:cNvPr>
          <p:cNvSpPr txBox="1"/>
          <p:nvPr/>
        </p:nvSpPr>
        <p:spPr>
          <a:xfrm>
            <a:off x="359764" y="1530314"/>
            <a:ext cx="50067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472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4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E7880A-06FB-66FE-E3CF-A1133D483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4948">
            <a:off x="135409" y="270663"/>
            <a:ext cx="1628996" cy="69721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621082-FE95-ADC9-30D9-EDD71E7FE0C5}"/>
              </a:ext>
            </a:extLst>
          </p:cNvPr>
          <p:cNvCxnSpPr>
            <a:cxnSpLocks/>
          </p:cNvCxnSpPr>
          <p:nvPr/>
        </p:nvCxnSpPr>
        <p:spPr>
          <a:xfrm>
            <a:off x="-225381" y="1236373"/>
            <a:ext cx="12642761" cy="0"/>
          </a:xfrm>
          <a:prstGeom prst="line">
            <a:avLst/>
          </a:prstGeom>
          <a:ln>
            <a:solidFill>
              <a:srgbClr val="B311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C591B89-B29F-3649-65AD-94DD4B8C56D1}"/>
              </a:ext>
            </a:extLst>
          </p:cNvPr>
          <p:cNvSpPr txBox="1"/>
          <p:nvPr/>
        </p:nvSpPr>
        <p:spPr>
          <a:xfrm>
            <a:off x="2625775" y="296102"/>
            <a:ext cx="6940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B-Field Visualization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50DF13-8D53-70CF-9706-7CE97C55F34F}"/>
                  </a:ext>
                </a:extLst>
              </p:cNvPr>
              <p:cNvSpPr txBox="1"/>
              <p:nvPr/>
            </p:nvSpPr>
            <p:spPr>
              <a:xfrm>
                <a:off x="359764" y="1530314"/>
                <a:ext cx="5186597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Collaboration Goal: </a:t>
                </a:r>
                <a:r>
                  <a:rPr lang="en-US" sz="2400" dirty="0"/>
                  <a:t>&lt;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−7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variation of B-field despite chamber geometry.</a:t>
                </a:r>
                <a:endParaRPr lang="en-US" dirty="0"/>
              </a:p>
              <a:p>
                <a:endParaRPr lang="en-US" sz="2400" dirty="0"/>
              </a:p>
              <a:p>
                <a:r>
                  <a:rPr lang="en-US" sz="2400" b="1" dirty="0"/>
                  <a:t>Project Process: </a:t>
                </a:r>
                <a:r>
                  <a:rPr lang="en-US" sz="2400" dirty="0"/>
                  <a:t>Numerical simulations of B-fields from a variety of coil geometries to correct for baseline variations and external fields.</a:t>
                </a:r>
              </a:p>
              <a:p>
                <a:endParaRPr lang="en-US" sz="2400" dirty="0"/>
              </a:p>
              <a:p>
                <a:r>
                  <a:rPr lang="en-US" sz="2400" b="1" dirty="0"/>
                  <a:t>Current Progress:</a:t>
                </a:r>
                <a:r>
                  <a:rPr lang="en-US" sz="2400" dirty="0"/>
                  <a:t> Working MATLAB code to calculate B-field at a list of given points from a list of coils.</a:t>
                </a: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50DF13-8D53-70CF-9706-7CE97C55F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64" y="1530314"/>
                <a:ext cx="5186597" cy="4524315"/>
              </a:xfrm>
              <a:prstGeom prst="rect">
                <a:avLst/>
              </a:prstGeom>
              <a:blipFill>
                <a:blip r:embed="rId3"/>
                <a:stretch>
                  <a:fillRect l="-1956" t="-1120" b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D9792180-1EA8-7308-3BBE-65FAA15D2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0229" y="1463918"/>
            <a:ext cx="5502007" cy="3783947"/>
          </a:xfrm>
          <a:prstGeom prst="rect">
            <a:avLst/>
          </a:prstGeom>
          <a:ln>
            <a:solidFill>
              <a:srgbClr val="B31103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49A6BFB-C80A-5D3A-C325-0FD186FB95B2}"/>
              </a:ext>
            </a:extLst>
          </p:cNvPr>
          <p:cNvSpPr txBox="1"/>
          <p:nvPr/>
        </p:nvSpPr>
        <p:spPr>
          <a:xfrm>
            <a:off x="6501968" y="5436961"/>
            <a:ext cx="5006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1: A visualization of the simulated, generated magnetic field from a skewed circular coil.</a:t>
            </a:r>
          </a:p>
        </p:txBody>
      </p:sp>
    </p:spTree>
    <p:extLst>
      <p:ext uri="{BB962C8B-B14F-4D97-AF65-F5344CB8AC3E}">
        <p14:creationId xmlns:p14="http://schemas.microsoft.com/office/powerpoint/2010/main" val="1139679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191E46-077C-5B4B-1CD2-4B618543C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331E7E-B230-DB73-98F2-D94948E68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4948">
            <a:off x="135409" y="270663"/>
            <a:ext cx="1628996" cy="69721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9A25F35-C712-6AD1-DBE9-95BF4EA0A586}"/>
              </a:ext>
            </a:extLst>
          </p:cNvPr>
          <p:cNvCxnSpPr>
            <a:cxnSpLocks/>
          </p:cNvCxnSpPr>
          <p:nvPr/>
        </p:nvCxnSpPr>
        <p:spPr>
          <a:xfrm>
            <a:off x="-225381" y="1236373"/>
            <a:ext cx="12642761" cy="0"/>
          </a:xfrm>
          <a:prstGeom prst="line">
            <a:avLst/>
          </a:prstGeom>
          <a:ln>
            <a:solidFill>
              <a:srgbClr val="B311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D89BA9F-7386-EAFA-0F71-8FFB96F32680}"/>
              </a:ext>
            </a:extLst>
          </p:cNvPr>
          <p:cNvSpPr txBox="1"/>
          <p:nvPr/>
        </p:nvSpPr>
        <p:spPr>
          <a:xfrm>
            <a:off x="2625775" y="296102"/>
            <a:ext cx="6940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Aptos Display" panose="02110004020202020204"/>
              </a:rPr>
              <a:t>First-Order Gravitational Corrections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07182A-5909-0E8F-6B3E-B5157F9727FD}"/>
              </a:ext>
            </a:extLst>
          </p:cNvPr>
          <p:cNvSpPr txBox="1"/>
          <p:nvPr/>
        </p:nvSpPr>
        <p:spPr>
          <a:xfrm>
            <a:off x="359764" y="1530314"/>
            <a:ext cx="500671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Catenary Curve: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curve describing the shape of a hanging chain, or general objects anchored at two ends under the influence of gravity.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Application: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 compute the magnetic field accounting for vertical offsets according to the catenary equation (1) with boundary conditions and a length constraint.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BBD6CB-CDE3-5782-4AAA-DDED1BB47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136" y="1441450"/>
            <a:ext cx="5245100" cy="3975100"/>
          </a:xfrm>
          <a:prstGeom prst="rect">
            <a:avLst/>
          </a:prstGeom>
          <a:ln>
            <a:solidFill>
              <a:srgbClr val="B31103"/>
            </a:solidFill>
          </a:ln>
        </p:spPr>
      </p:pic>
      <p:pic>
        <p:nvPicPr>
          <p:cNvPr id="6" name="Picture 5" descr="China Disputes Ruling on Giant Pandas, Says They Remain Endangered">
            <a:extLst>
              <a:ext uri="{FF2B5EF4-FFF2-40B4-BE49-F238E27FC236}">
                <a16:creationId xmlns:a16="http://schemas.microsoft.com/office/drawing/2014/main" id="{D930E3A9-6B09-190D-A323-282016C30B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10175"/>
            <a:ext cx="889904" cy="50199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B27F4E-DF56-D3A0-C99B-D0855A2FA379}"/>
                  </a:ext>
                </a:extLst>
              </p:cNvPr>
              <p:cNvSpPr txBox="1"/>
              <p:nvPr/>
            </p:nvSpPr>
            <p:spPr>
              <a:xfrm>
                <a:off x="429014" y="5621627"/>
                <a:ext cx="4868214" cy="645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cosh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–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   (1)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B27F4E-DF56-D3A0-C99B-D0855A2FA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14" y="5621627"/>
                <a:ext cx="4868214" cy="645048"/>
              </a:xfrm>
              <a:prstGeom prst="rect">
                <a:avLst/>
              </a:prstGeom>
              <a:blipFill>
                <a:blip r:embed="rId5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8D058A9-D852-55C1-3AD1-285B09F7EC37}"/>
              </a:ext>
            </a:extLst>
          </p:cNvPr>
          <p:cNvSpPr txBox="1"/>
          <p:nvPr/>
        </p:nvSpPr>
        <p:spPr>
          <a:xfrm>
            <a:off x="6587136" y="5486845"/>
            <a:ext cx="5245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1: Multiple catenary curves are shown with different lengths = scale*separation and common boundaries of 0. </a:t>
            </a:r>
          </a:p>
        </p:txBody>
      </p:sp>
    </p:spTree>
    <p:extLst>
      <p:ext uri="{BB962C8B-B14F-4D97-AF65-F5344CB8AC3E}">
        <p14:creationId xmlns:p14="http://schemas.microsoft.com/office/powerpoint/2010/main" val="2086605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926358-6075-0598-0D95-62A7323AE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051DD6-9CD9-A2BA-D2CB-E6A3579B0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4948">
            <a:off x="135409" y="270663"/>
            <a:ext cx="1628996" cy="69721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D003D2F-04CE-2F93-0C27-F8EEACB5B028}"/>
              </a:ext>
            </a:extLst>
          </p:cNvPr>
          <p:cNvCxnSpPr>
            <a:cxnSpLocks/>
          </p:cNvCxnSpPr>
          <p:nvPr/>
        </p:nvCxnSpPr>
        <p:spPr>
          <a:xfrm>
            <a:off x="-225381" y="1236373"/>
            <a:ext cx="12642761" cy="0"/>
          </a:xfrm>
          <a:prstGeom prst="line">
            <a:avLst/>
          </a:prstGeom>
          <a:ln>
            <a:solidFill>
              <a:srgbClr val="B311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4CAF01D-DA1F-32E6-2EAB-39EA24FADF3A}"/>
              </a:ext>
            </a:extLst>
          </p:cNvPr>
          <p:cNvSpPr txBox="1"/>
          <p:nvPr/>
        </p:nvSpPr>
        <p:spPr>
          <a:xfrm>
            <a:off x="2625775" y="296102"/>
            <a:ext cx="6940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Aptos Display" panose="02110004020202020204"/>
              </a:rPr>
              <a:t>Catenaries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740121-EC34-7050-7031-F90D4F6DAE1F}"/>
              </a:ext>
            </a:extLst>
          </p:cNvPr>
          <p:cNvSpPr txBox="1"/>
          <p:nvPr/>
        </p:nvSpPr>
        <p:spPr>
          <a:xfrm>
            <a:off x="359764" y="1530314"/>
            <a:ext cx="500671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Computed: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3-dimensional magnetic field difference between base case and first gravitational correction.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Generated: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 variety of visualizations for the field.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0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Next Steps: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Working on configuring cos(</a:t>
            </a:r>
            <a:r>
              <a:rPr kumimoji="0" lang="el-GR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θ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 coil to match the difference.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22B04D-C493-ED0A-714E-86F78A710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103" y="1441450"/>
            <a:ext cx="5300133" cy="3975100"/>
          </a:xfrm>
          <a:prstGeom prst="rect">
            <a:avLst/>
          </a:prstGeom>
          <a:ln>
            <a:solidFill>
              <a:srgbClr val="B31103"/>
            </a:solidFill>
          </a:ln>
        </p:spPr>
      </p:pic>
      <p:pic>
        <p:nvPicPr>
          <p:cNvPr id="3" name="Picture 2" descr="China Disputes Ruling on Giant Pandas, Says They Remain Endangered">
            <a:extLst>
              <a:ext uri="{FF2B5EF4-FFF2-40B4-BE49-F238E27FC236}">
                <a16:creationId xmlns:a16="http://schemas.microsoft.com/office/drawing/2014/main" id="{E08F2B6C-6594-E3BF-BD45-E202AE227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10175"/>
            <a:ext cx="889904" cy="50199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73E90F-54E0-EEF0-09C3-A49A5C81B2D9}"/>
              </a:ext>
            </a:extLst>
          </p:cNvPr>
          <p:cNvSpPr txBox="1"/>
          <p:nvPr/>
        </p:nvSpPr>
        <p:spPr>
          <a:xfrm>
            <a:off x="6587136" y="5486845"/>
            <a:ext cx="5245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2: A visualization of the magnetic field differences at multiple positions projected into the </a:t>
            </a:r>
            <a:r>
              <a:rPr lang="en-US" dirty="0" err="1"/>
              <a:t>yz</a:t>
            </a:r>
            <a:r>
              <a:rPr lang="en-US" dirty="0"/>
              <a:t>-plane.</a:t>
            </a:r>
          </a:p>
        </p:txBody>
      </p:sp>
    </p:spTree>
    <p:extLst>
      <p:ext uri="{BB962C8B-B14F-4D97-AF65-F5344CB8AC3E}">
        <p14:creationId xmlns:p14="http://schemas.microsoft.com/office/powerpoint/2010/main" val="3272926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250</Words>
  <Application>Microsoft Macintosh PowerPoint</Application>
  <PresentationFormat>Widescreen</PresentationFormat>
  <Paragraphs>40</Paragraphs>
  <Slides>5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Jonah Seguine</dc:creator>
  <cp:lastModifiedBy>Jonah Seguine</cp:lastModifiedBy>
  <cp:revision>3</cp:revision>
  <dcterms:created xsi:type="dcterms:W3CDTF">2026-06-04T19:42:56Z</dcterms:created>
  <dcterms:modified xsi:type="dcterms:W3CDTF">2026-06-17T20:34:17Z</dcterms:modified>
</cp:coreProperties>
</file>